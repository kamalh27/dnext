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730631a-e236-eb05-0a79-a40179be9d50}">
          <p14:sldIdLst>
            <p14:sldId id="256"/>
          </p14:sldIdLst>
        </p14:section>
        <p14:section name="Problem and benefit" id="{724eb621-deda-59c5-3c60-970c7e9f4029}">
          <p14:sldIdLst>
            <p14:sldId id="257"/>
            <p14:sldId id="258"/>
          </p14:sldIdLst>
        </p14:section>
        <p14:section name="The solution" id="{977180cc-5d34-02cc-da03-39d92e146619}">
          <p14:sldIdLst>
            <p14:sldId id="259"/>
            <p14:sldId id="260"/>
            <p14:sldId id="261"/>
          </p14:sldIdLst>
        </p14:section>
        <p14:section name="How it works" id="{920c9346-a0fc-6238-45a5-aea820cc24bf}">
          <p14:sldIdLst>
            <p14:sldId id="262"/>
            <p14:sldId id="263"/>
          </p14:sldIdLst>
        </p14:section>
        <p14:section name="Community and action" id="{3b1ad56e-b058-ad16-1272-fa0ef2ff0840}">
          <p14:sldIdLst>
            <p14:sldId id="264"/>
            <p14:sldId id="265"/>
          </p14:sldIdLst>
        </p14:section>
        <p14:section name="Feasibility and scale" id="{3de884eb-2299-6c0d-7129-d51f809b1a22}">
          <p14:sldIdLst>
            <p14:sldId id="266"/>
            <p14:sldId id="267"/>
          </p14:sldIdLst>
        </p14:section>
        <p14:section name="Responsible and next" id="{305bc087-a75e-a7cf-431e-058b1da424c5}">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DNext is a landslide risk screening tool for Thailand. Ask a what-if question in English or Thai and get a map, an estimate of what is exposed, and a five-day outlook. Built on Google Cloud: Gemini on Vertex AI through the Agent Development Kit, Earth Engine, Cloud Run, Firestore, BigQuery, Pub/Sub and Google Maps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Landslides in Thailand follow heavy rain. The inputs needed to judge the risk are spread across systems that need specialist skills. DNext brings them into one screen at tambon level and answers in plain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benefit. Planners get a fast what-if view. Responders see what is exposed and are told when risk rises. Communities can report what they see and find candidate safe places. All of it is in English and Thai.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screen shows the national picture. The slider steps through the next five days of forecast and the play button animates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answers in the user's language. Ranking and how-many questions are answered from the daily data; follow-ups such as 'and in Chon Buri' or 'what about next week' keep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Affected infrastructure is shown only for the Moderate-or-higher zone. Buildings come from Google Open Buildings, roads from OpenStreetMap. In 3D the heights are estimates, so the panel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is a screening calculation at tambon level. The classes are national and relative, not probabilities. The rain trigger uses each tambon's own history, which is what makes it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Gen AI does meaningful work: understanding the question in two languages, choosing the right tool, keeping the conversation, and explaining results. The numbers never come from the model. Gemini vision is used for community photo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loop. Reports are labelled as checked by AI and not verified by authorities. Safe places are candidates from open data, not a confirmed shelter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editor is for sharing a result with colleagues. Alerts are generated by comparing each run of the daily job with the previous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Cloud Run services plus one Cloud Run job. The heavy work is precomputed twice a day, so a request needs milliseconds of arithmetic plus map tiles from Earth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and scalability. Everything runs on managed Google Cloud services. Cost is bounded by per-account limits and by precomputing the expensive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say plainly what the tool cannot do. The next steps are about validating it with real events and with the people who would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link works on any device. Sign-in is only needed for the parts that cost money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10607040" y="502920"/>
            <a:ext cx="182880" cy="182880"/>
          </a:xfrm>
          <a:prstGeom prst="rect">
            <a:avLst/>
          </a:prstGeom>
          <a:solidFill>
            <a:srgbClr val="FFFFB2"/>
          </a:solidFill>
          <a:ln/>
        </p:spPr>
      </p:sp>
      <p:sp>
        <p:nvSpPr>
          <p:cNvPr id="3" name="Shape 1"/>
          <p:cNvSpPr/>
          <p:nvPr/>
        </p:nvSpPr>
        <p:spPr>
          <a:xfrm>
            <a:off x="10835640" y="502920"/>
            <a:ext cx="182880" cy="182880"/>
          </a:xfrm>
          <a:prstGeom prst="rect">
            <a:avLst/>
          </a:prstGeom>
          <a:solidFill>
            <a:srgbClr val="FECC5C"/>
          </a:solidFill>
          <a:ln/>
        </p:spPr>
      </p:sp>
      <p:sp>
        <p:nvSpPr>
          <p:cNvPr id="4" name="Shape 2"/>
          <p:cNvSpPr/>
          <p:nvPr/>
        </p:nvSpPr>
        <p:spPr>
          <a:xfrm>
            <a:off x="11064240" y="502920"/>
            <a:ext cx="182880" cy="182880"/>
          </a:xfrm>
          <a:prstGeom prst="rect">
            <a:avLst/>
          </a:prstGeom>
          <a:solidFill>
            <a:srgbClr val="FD8D3C"/>
          </a:solidFill>
          <a:ln/>
        </p:spPr>
      </p:sp>
      <p:sp>
        <p:nvSpPr>
          <p:cNvPr id="5" name="Shape 3"/>
          <p:cNvSpPr/>
          <p:nvPr/>
        </p:nvSpPr>
        <p:spPr>
          <a:xfrm>
            <a:off x="11292840" y="502920"/>
            <a:ext cx="182880" cy="182880"/>
          </a:xfrm>
          <a:prstGeom prst="rect">
            <a:avLst/>
          </a:prstGeom>
          <a:solidFill>
            <a:srgbClr val="F03B20"/>
          </a:solidFill>
          <a:ln/>
        </p:spPr>
      </p:sp>
      <p:sp>
        <p:nvSpPr>
          <p:cNvPr id="6" name="Shape 4"/>
          <p:cNvSpPr/>
          <p:nvPr/>
        </p:nvSpPr>
        <p:spPr>
          <a:xfrm>
            <a:off x="11521440" y="502920"/>
            <a:ext cx="182880" cy="182880"/>
          </a:xfrm>
          <a:prstGeom prst="rect">
            <a:avLst/>
          </a:prstGeom>
          <a:solidFill>
            <a:srgbClr val="BD0026"/>
          </a:solidFill>
          <a:ln/>
        </p:spPr>
      </p:sp>
      <p:sp>
        <p:nvSpPr>
          <p:cNvPr id="7" name="Text 5"/>
          <p:cNvSpPr/>
          <p:nvPr>
            <p:ph idx="105" type="title" hasCustomPrompt="1"/>
          </p:nvPr>
        </p:nvSpPr>
        <p:spPr>
          <a:xfrm>
            <a:off x="731520" y="1280160"/>
            <a:ext cx="7223760" cy="1097280"/>
          </a:xfrm>
          <a:prstGeom prst="rect">
            <a:avLst/>
          </a:prstGeom>
          <a:noFill/>
          <a:ln/>
        </p:spPr>
        <p:txBody>
          <a:bodyPr wrap="square" rtlCol="0"/>
          <a:lstStyle>
            <a:lvl1pPr algn="l" indent="0" marL="0">
              <a:buNone/>
              <a:defRPr lang="en-US" sz="3600" b="1" dirty="0">
                <a:solidFill>
                  <a:schemeClr val="bg1"/>
                </a:solidFill>
                <a:latin typeface="Georgia" pitchFamily="34" charset="0"/>
                <a:ea typeface="Georgia" pitchFamily="34" charset="-122"/>
                <a:cs typeface="Georgia" pitchFamily="34" charset="-120"/>
              </a:defRPr>
            </a:lvl1pPr>
          </a:lstStyle>
          <a:p>
            <a:pPr algn="l" indent="0" marL="0">
              <a:buNone/>
            </a:pPr>
            <a:endParaRPr lang="en-US" sz="3600" dirty="0"/>
          </a:p>
        </p:txBody>
      </p:sp>
      <p:sp>
        <p:nvSpPr>
          <p:cNvPr id="8" name="Text 5"/>
          <p:cNvSpPr/>
          <p:nvPr>
            <p:ph idx="106" type="body" hasCustomPrompt="1"/>
          </p:nvPr>
        </p:nvSpPr>
        <p:spPr>
          <a:xfrm>
            <a:off x="731520" y="2377440"/>
            <a:ext cx="6949440" cy="1280160"/>
          </a:xfrm>
          <a:prstGeom prst="rect">
            <a:avLst/>
          </a:prstGeom>
          <a:noFill/>
          <a:ln/>
        </p:spPr>
        <p:txBody>
          <a:bodyPr wrap="square" rtlCol="0"/>
          <a:lstStyle>
            <a:lvl1pPr algn="l" indent="0" marL="0">
              <a:buNone/>
              <a:defRPr lang="en-US" sz="2000" dirty="0">
                <a:solidFill>
                  <a:schemeClr val="bg2"/>
                </a:solidFill>
                <a:latin typeface="Arial" pitchFamily="34" charset="0"/>
                <a:ea typeface="Arial" pitchFamily="34" charset="-122"/>
                <a:cs typeface="Arial"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10607040" y="502920"/>
            <a:ext cx="182880" cy="182880"/>
          </a:xfrm>
          <a:prstGeom prst="rect">
            <a:avLst/>
          </a:prstGeom>
          <a:solidFill>
            <a:srgbClr val="FFFFB2"/>
          </a:solidFill>
          <a:ln/>
        </p:spPr>
      </p:sp>
      <p:sp>
        <p:nvSpPr>
          <p:cNvPr id="3" name="Shape 1"/>
          <p:cNvSpPr/>
          <p:nvPr/>
        </p:nvSpPr>
        <p:spPr>
          <a:xfrm>
            <a:off x="10835640" y="502920"/>
            <a:ext cx="182880" cy="182880"/>
          </a:xfrm>
          <a:prstGeom prst="rect">
            <a:avLst/>
          </a:prstGeom>
          <a:solidFill>
            <a:srgbClr val="FECC5C"/>
          </a:solidFill>
          <a:ln/>
        </p:spPr>
      </p:sp>
      <p:sp>
        <p:nvSpPr>
          <p:cNvPr id="4" name="Shape 2"/>
          <p:cNvSpPr/>
          <p:nvPr/>
        </p:nvSpPr>
        <p:spPr>
          <a:xfrm>
            <a:off x="11064240" y="502920"/>
            <a:ext cx="182880" cy="182880"/>
          </a:xfrm>
          <a:prstGeom prst="rect">
            <a:avLst/>
          </a:prstGeom>
          <a:solidFill>
            <a:srgbClr val="FD8D3C"/>
          </a:solidFill>
          <a:ln/>
        </p:spPr>
      </p:sp>
      <p:sp>
        <p:nvSpPr>
          <p:cNvPr id="5" name="Shape 3"/>
          <p:cNvSpPr/>
          <p:nvPr/>
        </p:nvSpPr>
        <p:spPr>
          <a:xfrm>
            <a:off x="11292840" y="502920"/>
            <a:ext cx="182880" cy="182880"/>
          </a:xfrm>
          <a:prstGeom prst="rect">
            <a:avLst/>
          </a:prstGeom>
          <a:solidFill>
            <a:srgbClr val="F03B20"/>
          </a:solidFill>
          <a:ln/>
        </p:spPr>
      </p:sp>
      <p:sp>
        <p:nvSpPr>
          <p:cNvPr id="6" name="Shape 4"/>
          <p:cNvSpPr/>
          <p:nvPr/>
        </p:nvSpPr>
        <p:spPr>
          <a:xfrm>
            <a:off x="11521440" y="502920"/>
            <a:ext cx="182880" cy="182880"/>
          </a:xfrm>
          <a:prstGeom prst="rect">
            <a:avLst/>
          </a:prstGeom>
          <a:solidFill>
            <a:srgbClr val="BD0026"/>
          </a:solidFill>
          <a:ln/>
        </p:spPr>
      </p:sp>
      <p:sp>
        <p:nvSpPr>
          <p:cNvPr id="7" name="Text 5"/>
          <p:cNvSpPr/>
          <p:nvPr/>
        </p:nvSpPr>
        <p:spPr>
          <a:xfrm>
            <a:off x="548640" y="6419088"/>
            <a:ext cx="6400800" cy="274320"/>
          </a:xfrm>
          <a:prstGeom prst="rect">
            <a:avLst/>
          </a:prstGeom>
          <a:noFill/>
          <a:ln/>
        </p:spPr>
        <p:txBody>
          <a:bodyPr wrap="square" lIns="0" tIns="0" rIns="0" bIns="0" rtlCol="0" anchor="ctr"/>
          <a:lstStyle/>
          <a:p>
            <a:pPr indent="0" marL="0">
              <a:buNone/>
            </a:pPr>
            <a:r>
              <a:rPr lang="en-US" sz="1000" dirty="0">
                <a:solidFill>
                  <a:schemeClr val="accent6"/>
                </a:solidFill>
                <a:latin typeface="Arial" pitchFamily="34" charset="0"/>
                <a:ea typeface="Arial" pitchFamily="34" charset="-122"/>
                <a:cs typeface="Arial" pitchFamily="34" charset="-120"/>
              </a:rPr>
              <a:t>DNext · LandslideWatch TH   |   AI Builder Cup 2026</a:t>
            </a:r>
            <a:endParaRPr lang="en-US" sz="1000" dirty="0"/>
          </a:p>
        </p:txBody>
      </p:sp>
      <p:sp>
        <p:nvSpPr>
          <p:cNvPr id="8" name="Text 6"/>
          <p:cNvSpPr/>
          <p:nvPr>
            <p:ph idx="106" type="title" hasCustomPrompt="1"/>
          </p:nvPr>
        </p:nvSpPr>
        <p:spPr>
          <a:xfrm>
            <a:off x="548640" y="365760"/>
            <a:ext cx="9509760" cy="868680"/>
          </a:xfrm>
          <a:prstGeom prst="rect">
            <a:avLst/>
          </a:prstGeom>
          <a:noFill/>
          <a:ln/>
        </p:spPr>
        <p:txBody>
          <a:bodyPr wrap="square" rtlCol="0"/>
          <a:lstStyle>
            <a:lvl1pPr algn="l" indent="0" marL="0">
              <a:buNone/>
              <a:defRPr lang="en-US" sz="3000" b="1" dirty="0">
                <a:solidFill>
                  <a:schemeClr val="tx1"/>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10607040" y="502920"/>
            <a:ext cx="182880" cy="182880"/>
          </a:xfrm>
          <a:prstGeom prst="rect">
            <a:avLst/>
          </a:prstGeom>
          <a:solidFill>
            <a:srgbClr val="FFFFB2"/>
          </a:solidFill>
          <a:ln/>
        </p:spPr>
      </p:sp>
      <p:sp>
        <p:nvSpPr>
          <p:cNvPr id="3" name="Shape 1"/>
          <p:cNvSpPr/>
          <p:nvPr/>
        </p:nvSpPr>
        <p:spPr>
          <a:xfrm>
            <a:off x="10835640" y="502920"/>
            <a:ext cx="182880" cy="182880"/>
          </a:xfrm>
          <a:prstGeom prst="rect">
            <a:avLst/>
          </a:prstGeom>
          <a:solidFill>
            <a:srgbClr val="FECC5C"/>
          </a:solidFill>
          <a:ln/>
        </p:spPr>
      </p:sp>
      <p:sp>
        <p:nvSpPr>
          <p:cNvPr id="4" name="Shape 2"/>
          <p:cNvSpPr/>
          <p:nvPr/>
        </p:nvSpPr>
        <p:spPr>
          <a:xfrm>
            <a:off x="11064240" y="502920"/>
            <a:ext cx="182880" cy="182880"/>
          </a:xfrm>
          <a:prstGeom prst="rect">
            <a:avLst/>
          </a:prstGeom>
          <a:solidFill>
            <a:srgbClr val="FD8D3C"/>
          </a:solidFill>
          <a:ln/>
        </p:spPr>
      </p:sp>
      <p:sp>
        <p:nvSpPr>
          <p:cNvPr id="5" name="Shape 3"/>
          <p:cNvSpPr/>
          <p:nvPr/>
        </p:nvSpPr>
        <p:spPr>
          <a:xfrm>
            <a:off x="11292840" y="502920"/>
            <a:ext cx="182880" cy="182880"/>
          </a:xfrm>
          <a:prstGeom prst="rect">
            <a:avLst/>
          </a:prstGeom>
          <a:solidFill>
            <a:srgbClr val="F03B20"/>
          </a:solidFill>
          <a:ln/>
        </p:spPr>
      </p:sp>
      <p:sp>
        <p:nvSpPr>
          <p:cNvPr id="6" name="Shape 4"/>
          <p:cNvSpPr/>
          <p:nvPr/>
        </p:nvSpPr>
        <p:spPr>
          <a:xfrm>
            <a:off x="11521440" y="502920"/>
            <a:ext cx="182880" cy="182880"/>
          </a:xfrm>
          <a:prstGeom prst="rect">
            <a:avLst/>
          </a:prstGeom>
          <a:solidFill>
            <a:srgbClr val="BD0026"/>
          </a:solidFill>
          <a:ln/>
        </p:spPr>
      </p:sp>
      <p:sp>
        <p:nvSpPr>
          <p:cNvPr id="7" name="Text 5"/>
          <p:cNvSpPr/>
          <p:nvPr>
            <p:ph idx="105" type="title" hasCustomPrompt="1"/>
          </p:nvPr>
        </p:nvSpPr>
        <p:spPr>
          <a:xfrm>
            <a:off x="548640" y="365760"/>
            <a:ext cx="9509760" cy="868680"/>
          </a:xfrm>
          <a:prstGeom prst="rect">
            <a:avLst/>
          </a:prstGeom>
          <a:noFill/>
          <a:ln/>
        </p:spPr>
        <p:txBody>
          <a:bodyPr wrap="square" rtlCol="0"/>
          <a:lstStyle>
            <a:lvl1pPr algn="l" indent="0" marL="0">
              <a:buNone/>
              <a:defRPr lang="en-US" sz="3000" b="1" dirty="0">
                <a:solidFill>
                  <a:schemeClr val="bg1"/>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5"/>
          <p:cNvSpPr/>
          <p:nvPr>
            <p:ph idx="105" type="title" hasCustomPrompt="1"/>
          </p:nvPr>
        </p:nvSpPr>
        <p:spPr>
          <a:xfrm>
            <a:off x="731520" y="1280160"/>
            <a:ext cx="7223760" cy="1097280"/>
          </a:xfrm>
          <a:prstGeom prst="rect">
            <a:avLst/>
          </a:prstGeom>
          <a:noFill/>
          <a:ln/>
        </p:spPr>
        <p:txBody>
          <a:bodyPr wrap="square" lIns="0" tIns="0" rIns="0" bIns="0" rtlCol="0" anchor="t"/>
          <a:lstStyle/>
          <a:p>
            <a:pPr algn="l" indent="0" marL="0">
              <a:buNone/>
            </a:pPr>
            <a:r>
              <a:rPr lang="en-US" sz="3600" b="1" dirty="0">
                <a:solidFill>
                  <a:schemeClr val="bg1"/>
                </a:solidFill>
                <a:latin typeface="Georgia" pitchFamily="34" charset="0"/>
                <a:ea typeface="Georgia" pitchFamily="34" charset="-122"/>
                <a:cs typeface="Georgia" pitchFamily="34" charset="-120"/>
              </a:rPr>
              <a:t>DNext · LandslideWatch TH</a:t>
            </a:r>
            <a:endParaRPr lang="en-US" sz="3600" dirty="0"/>
          </a:p>
        </p:txBody>
      </p:sp>
      <p:sp>
        <p:nvSpPr>
          <p:cNvPr id="3" name="Text 5"/>
          <p:cNvSpPr/>
          <p:nvPr>
            <p:ph idx="106" type="body" hasCustomPrompt="1"/>
          </p:nvPr>
        </p:nvSpPr>
        <p:spPr>
          <a:xfrm>
            <a:off x="731520" y="2377440"/>
            <a:ext cx="6949440" cy="1280160"/>
          </a:xfrm>
          <a:prstGeom prst="rect">
            <a:avLst/>
          </a:prstGeom>
          <a:noFill/>
          <a:ln/>
        </p:spPr>
        <p:txBody>
          <a:bodyPr wrap="square" lIns="0" tIns="0" rIns="0" bIns="0" rtlCol="0" anchor="t"/>
          <a:lstStyle/>
          <a:p>
            <a:pPr algn="l" indent="0" marL="0">
              <a:buNone/>
            </a:pPr>
            <a:r>
              <a:rPr lang="en-US" sz="2000" dirty="0">
                <a:solidFill>
                  <a:schemeClr val="bg2"/>
                </a:solidFill>
                <a:latin typeface="Arial" pitchFamily="34" charset="0"/>
                <a:ea typeface="Arial" pitchFamily="34" charset="-122"/>
                <a:cs typeface="Arial" pitchFamily="34" charset="-120"/>
              </a:rPr>
              <a:t>Landslide risk screening for Thailand, in plain language: where heavy rain is most likely to trigger landslides, and who and what sits in the way.</a:t>
            </a:r>
            <a:endParaRPr lang="en-US" sz="2000" dirty="0"/>
          </a:p>
        </p:txBody>
      </p:sp>
      <p:sp>
        <p:nvSpPr>
          <p:cNvPr id="4" name="theme card"/>
          <p:cNvSpPr/>
          <p:nvPr/>
        </p:nvSpPr>
        <p:spPr>
          <a:xfrm>
            <a:off x="731520" y="3931920"/>
            <a:ext cx="6949440" cy="960120"/>
          </a:xfrm>
          <a:prstGeom prst="roundRect">
            <a:avLst>
              <a:gd name="adj" fmla="val 7619"/>
            </a:avLst>
          </a:prstGeom>
          <a:solidFill>
            <a:schemeClr val="accent6"/>
          </a:solidFill>
          <a:ln w="9525">
            <a:solidFill>
              <a:schemeClr val="accent6"/>
            </a:solidFill>
            <a:prstDash val="solid"/>
          </a:ln>
        </p:spPr>
      </p:sp>
      <p:sp>
        <p:nvSpPr>
          <p:cNvPr id="5" name="Text 3"/>
          <p:cNvSpPr txBox="1"/>
          <p:nvPr/>
        </p:nvSpPr>
        <p:spPr>
          <a:xfrm>
            <a:off x="960120" y="4050792"/>
            <a:ext cx="6583680" cy="731520"/>
          </a:xfrm>
          <a:prstGeom prst="rect">
            <a:avLst/>
          </a:prstGeom>
          <a:noFill/>
          <a:ln/>
        </p:spPr>
        <p:txBody>
          <a:bodyPr wrap="square" lIns="0" tIns="0" rIns="0" bIns="0" rtlCol="0" anchor="t"/>
          <a:lstStyle/>
          <a:p>
            <a:pPr indent="0" marL="0">
              <a:buNone/>
            </a:pPr>
            <a:r>
              <a:rPr lang="en-US" sz="1400" b="1" dirty="0">
                <a:solidFill>
                  <a:schemeClr val="bg1"/>
                </a:solidFill>
                <a:latin typeface="Arial" pitchFamily="34" charset="0"/>
                <a:ea typeface="Arial" pitchFamily="34" charset="-122"/>
                <a:cs typeface="Arial" pitchFamily="34" charset="-120"/>
              </a:rPr>
              <a:t>Theme: </a:t>
            </a:r>
            <a:pPr indent="0" marL="0">
              <a:buNone/>
            </a:pPr>
            <a:r>
              <a:rPr lang="en-US" sz="1400" dirty="0">
                <a:solidFill>
                  <a:schemeClr val="bg1"/>
                </a:solidFill>
                <a:latin typeface="Arial" pitchFamily="34" charset="0"/>
                <a:ea typeface="Arial" pitchFamily="34" charset="-122"/>
                <a:cs typeface="Arial" pitchFamily="34" charset="-120"/>
              </a:rPr>
              <a:t>Sustainability &amp; Social Impact</a:t>
            </a:r>
            <a:endParaRPr lang="en-US" sz="1400" dirty="0"/>
          </a:p>
          <a:p>
            <a:pPr indent="0" marL="0">
              <a:buNone/>
            </a:pPr>
            <a:r>
              <a:rPr lang="en-US" sz="1400" b="1" dirty="0">
                <a:solidFill>
                  <a:schemeClr val="bg1"/>
                </a:solidFill>
                <a:latin typeface="Arial" pitchFamily="34" charset="0"/>
                <a:ea typeface="Arial" pitchFamily="34" charset="-122"/>
                <a:cs typeface="Arial" pitchFamily="34" charset="-120"/>
              </a:rPr>
              <a:t>Category: </a:t>
            </a:r>
            <a:pPr indent="0" marL="0">
              <a:buNone/>
            </a:pPr>
            <a:r>
              <a:rPr lang="en-US" sz="1400" dirty="0">
                <a:solidFill>
                  <a:schemeClr val="bg1"/>
                </a:solidFill>
                <a:latin typeface="Arial" pitchFamily="34" charset="0"/>
                <a:ea typeface="Arial" pitchFamily="34" charset="-122"/>
                <a:cs typeface="Arial" pitchFamily="34" charset="-120"/>
              </a:rPr>
              <a:t>Sustainability · Live: dnext-web-37ob55mcga-as.a.run.app</a:t>
            </a:r>
            <a:endParaRPr lang="en-US" sz="1400" dirty="0"/>
          </a:p>
        </p:txBody>
      </p:sp>
      <p:sp>
        <p:nvSpPr>
          <p:cNvPr id="6" name="team card"/>
          <p:cNvSpPr/>
          <p:nvPr/>
        </p:nvSpPr>
        <p:spPr>
          <a:xfrm>
            <a:off x="731520" y="5120640"/>
            <a:ext cx="6949440" cy="1097280"/>
          </a:xfrm>
          <a:prstGeom prst="roundRect">
            <a:avLst>
              <a:gd name="adj" fmla="val 6667"/>
            </a:avLst>
          </a:prstGeom>
          <a:solidFill>
            <a:schemeClr val="tx2"/>
          </a:solidFill>
          <a:ln w="9525">
            <a:solidFill>
              <a:schemeClr val="tx2"/>
            </a:solidFill>
            <a:prstDash val="solid"/>
          </a:ln>
        </p:spPr>
      </p:sp>
      <p:sp>
        <p:nvSpPr>
          <p:cNvPr id="7" name="Text 5"/>
          <p:cNvSpPr txBox="1"/>
          <p:nvPr/>
        </p:nvSpPr>
        <p:spPr>
          <a:xfrm>
            <a:off x="960120" y="5230368"/>
            <a:ext cx="6583680" cy="914400"/>
          </a:xfrm>
          <a:prstGeom prst="rect">
            <a:avLst/>
          </a:prstGeom>
          <a:noFill/>
          <a:ln/>
        </p:spPr>
        <p:txBody>
          <a:bodyPr wrap="square" lIns="0" tIns="0" rIns="0" bIns="0" rtlCol="0" anchor="t"/>
          <a:lstStyle/>
          <a:p>
            <a:pPr indent="0" marL="0">
              <a:buNone/>
            </a:pPr>
            <a:r>
              <a:rPr lang="en-US" sz="1600" b="1" dirty="0">
                <a:solidFill>
                  <a:schemeClr val="bg1"/>
                </a:solidFill>
                <a:latin typeface="Georgia" pitchFamily="34" charset="0"/>
                <a:ea typeface="Georgia" pitchFamily="34" charset="-122"/>
                <a:cs typeface="Georgia" pitchFamily="34" charset="-120"/>
              </a:rPr>
              <a:t>DNext (Disaster Next) Team</a:t>
            </a:r>
            <a:endParaRPr lang="en-US" sz="1300" dirty="0"/>
          </a:p>
          <a:p>
            <a:pPr indent="0" marL="0">
              <a:buNone/>
            </a:pPr>
            <a:r>
              <a:rPr lang="en-US" sz="1300" dirty="0">
                <a:solidFill>
                  <a:schemeClr val="bg1"/>
                </a:solidFill>
                <a:latin typeface="Arial" pitchFamily="34" charset="0"/>
                <a:ea typeface="Arial" pitchFamily="34" charset="-122"/>
                <a:cs typeface="Arial" pitchFamily="34" charset="-120"/>
              </a:rPr>
              <a:t>Kamal Hosen, Geospatial Application Developer</a:t>
            </a:r>
            <a:endParaRPr lang="en-US" sz="1300" dirty="0"/>
          </a:p>
          <a:p>
            <a:pPr indent="0" marL="0">
              <a:buNone/>
            </a:pPr>
            <a:r>
              <a:rPr lang="en-US" sz="1300" dirty="0">
                <a:solidFill>
                  <a:schemeClr val="bg1"/>
                </a:solidFill>
                <a:latin typeface="Arial" pitchFamily="34" charset="0"/>
                <a:ea typeface="Arial" pitchFamily="34" charset="-122"/>
                <a:cs typeface="Arial" pitchFamily="34" charset="-120"/>
              </a:rPr>
              <a:t>Hafsah Ilmy, Geospatial Data Scientist (Landslide Model Developer)</a:t>
            </a:r>
            <a:endParaRPr lang="en-US" sz="1300" dirty="0"/>
          </a:p>
        </p:txBody>
      </p:sp>
      <p:pic>
        <p:nvPicPr>
          <p:cNvPr id="8" name="overview thumbnail" descr="National overview screen">    </p:cNvPr>
          <p:cNvPicPr>
            <a:picLocks noChangeAspect="1"/>
          </p:cNvPicPr>
          <p:nvPr/>
        </p:nvPicPr>
        <p:blipFill>
          <a:blip r:embed="rId1"/>
          <a:stretch>
            <a:fillRect/>
          </a:stretch>
        </p:blipFill>
        <p:spPr>
          <a:xfrm>
            <a:off x="8138160" y="1417320"/>
            <a:ext cx="3566160" cy="1975104"/>
          </a:xfrm>
          <a:prstGeom prst="rect">
            <a:avLst/>
          </a:prstGeom>
        </p:spPr>
      </p:pic>
      <p:pic>
        <p:nvPicPr>
          <p:cNvPr id="9" name="3d thumbnail" descr="3D blocks of affected buildings">    </p:cNvPr>
          <p:cNvPicPr>
            <a:picLocks noChangeAspect="1"/>
          </p:cNvPicPr>
          <p:nvPr/>
        </p:nvPicPr>
        <p:blipFill>
          <a:blip r:embed="rId2"/>
          <a:stretch>
            <a:fillRect/>
          </a:stretch>
        </p:blipFill>
        <p:spPr>
          <a:xfrm>
            <a:off x="8138160" y="3611880"/>
            <a:ext cx="3566160" cy="29077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6"/>
          <p:cNvSpPr/>
          <p:nvPr>
            <p:ph idx="106" type="title" hasCustomPrompt="1"/>
          </p:nvPr>
        </p:nvSpPr>
        <p:spPr>
          <a:xfrm>
            <a:off x="548640" y="365760"/>
            <a:ext cx="9509760" cy="868680"/>
          </a:xfrm>
          <a:prstGeom prst="rect">
            <a:avLst/>
          </a:prstGeom>
          <a:noFill/>
          <a:ln/>
        </p:spPr>
        <p:txBody>
          <a:bodyPr wrap="square" lIns="0" tIns="0" rIns="0" bIns="0" rtlCol="0" anchor="t"/>
          <a:lstStyle/>
          <a:p>
            <a:pPr algn="l" indent="0" marL="0">
              <a:buNone/>
            </a:pPr>
            <a:r>
              <a:rPr lang="en-US" sz="3000" b="1" dirty="0">
                <a:solidFill>
                  <a:schemeClr val="tx1"/>
                </a:solidFill>
                <a:latin typeface="Georgia" pitchFamily="34" charset="0"/>
                <a:ea typeface="Georgia" pitchFamily="34" charset="-122"/>
                <a:cs typeface="Georgia" pitchFamily="34" charset="-120"/>
              </a:rPr>
              <a:t>Heavy rain triggers landslides, and planners lack a fast local view</a:t>
            </a:r>
            <a:endParaRPr lang="en-US" sz="3000" dirty="0"/>
          </a:p>
        </p:txBody>
      </p:sp>
      <p:sp>
        <p:nvSpPr>
          <p:cNvPr id="3" name="Text 1"/>
          <p:cNvSpPr txBox="1"/>
          <p:nvPr/>
        </p:nvSpPr>
        <p:spPr>
          <a:xfrm>
            <a:off x="548640" y="1508760"/>
            <a:ext cx="6035040" cy="4572000"/>
          </a:xfrm>
          <a:prstGeom prst="rect">
            <a:avLst/>
          </a:prstGeom>
          <a:noFill/>
          <a:ln/>
        </p:spPr>
        <p:txBody>
          <a:bodyPr wrap="square" lIns="0" tIns="0" rIns="0" bIns="0" rtlCol="0" anchor="t"/>
          <a:lstStyle/>
          <a:p>
            <a:pPr marL="342900" indent="-342900">
              <a:lnSpc>
                <a:spcPct val="105000"/>
              </a:lnSpc>
              <a:spcAft>
                <a:spcPts val="1000"/>
              </a:spcAft>
              <a:buSzPct val="100000"/>
              <a:buChar char="•"/>
            </a:pPr>
            <a:r>
              <a:rPr lang="en-US" sz="2000" dirty="0">
                <a:solidFill>
                  <a:schemeClr val="tx1"/>
                </a:solidFill>
                <a:latin typeface="Arial" pitchFamily="34" charset="0"/>
                <a:ea typeface="Arial" pitchFamily="34" charset="-122"/>
                <a:cs typeface="Arial" pitchFamily="34" charset="-120"/>
              </a:rPr>
              <a:t>Every rainy season, heavy rain sets off landslides on susceptible slopes across Thailand.</a:t>
            </a:r>
            <a:endParaRPr lang="en-US" sz="2000" dirty="0"/>
          </a:p>
          <a:p>
            <a:pPr marL="342900" indent="-342900">
              <a:lnSpc>
                <a:spcPct val="105000"/>
              </a:lnSpc>
              <a:spcAft>
                <a:spcPts val="1000"/>
              </a:spcAft>
              <a:buSzPct val="100000"/>
              <a:buChar char="•"/>
            </a:pPr>
            <a:r>
              <a:rPr lang="en-US" sz="2000" dirty="0">
                <a:solidFill>
                  <a:schemeClr val="tx1"/>
                </a:solidFill>
                <a:latin typeface="Arial" pitchFamily="34" charset="0"/>
                <a:ea typeface="Arial" pitchFamily="34" charset="-122"/>
                <a:cs typeface="Arial" pitchFamily="34" charset="-120"/>
              </a:rPr>
              <a:t>The data that answers "how bad could it get here?" sits in separate systems: rainfall, slope susceptibility, population, buildings, roads. Combining it takes a specialist and time.</a:t>
            </a:r>
            <a:endParaRPr lang="en-US" sz="2000" dirty="0"/>
          </a:p>
          <a:p>
            <a:pPr marL="342900" indent="-342900">
              <a:lnSpc>
                <a:spcPct val="105000"/>
              </a:lnSpc>
              <a:buSzPct val="100000"/>
              <a:buChar char="•"/>
            </a:pPr>
            <a:r>
              <a:rPr lang="en-US" sz="2000" dirty="0">
                <a:solidFill>
                  <a:schemeClr val="tx1"/>
                </a:solidFill>
                <a:latin typeface="Arial" pitchFamily="34" charset="0"/>
                <a:ea typeface="Arial" pitchFamily="34" charset="-122"/>
                <a:cs typeface="Arial" pitchFamily="34" charset="-120"/>
              </a:rPr>
              <a:t>People planning ahead need three answers quickly: which sub-districts are close to their rainfall trigger, who and what lies in the way, and where people can go.</a:t>
            </a:r>
            <a:endParaRPr lang="en-US" sz="2000" dirty="0"/>
          </a:p>
        </p:txBody>
      </p:sp>
      <p:sp>
        <p:nvSpPr>
          <p:cNvPr id="4" name="stat card 1"/>
          <p:cNvSpPr/>
          <p:nvPr/>
        </p:nvSpPr>
        <p:spPr>
          <a:xfrm>
            <a:off x="7040880" y="1508760"/>
            <a:ext cx="4572000" cy="1371600"/>
          </a:xfrm>
          <a:prstGeom prst="roundRect">
            <a:avLst>
              <a:gd name="adj" fmla="val 5333"/>
            </a:avLst>
          </a:prstGeom>
          <a:solidFill>
            <a:schemeClr val="bg2"/>
          </a:solidFill>
          <a:ln w="9525">
            <a:solidFill>
              <a:schemeClr val="bg2"/>
            </a:solidFill>
            <a:prstDash val="solid"/>
          </a:ln>
        </p:spPr>
      </p:sp>
      <p:sp>
        <p:nvSpPr>
          <p:cNvPr id="5" name="Text 3"/>
          <p:cNvSpPr txBox="1"/>
          <p:nvPr/>
        </p:nvSpPr>
        <p:spPr>
          <a:xfrm>
            <a:off x="7269480" y="1645920"/>
            <a:ext cx="2103120" cy="1097280"/>
          </a:xfrm>
          <a:prstGeom prst="rect">
            <a:avLst/>
          </a:prstGeom>
          <a:noFill/>
          <a:ln/>
        </p:spPr>
        <p:txBody>
          <a:bodyPr wrap="square" lIns="0" tIns="0" rIns="0" bIns="0" rtlCol="0" anchor="ctr"/>
          <a:lstStyle/>
          <a:p>
            <a:pPr indent="0" marL="0">
              <a:buNone/>
            </a:pPr>
            <a:r>
              <a:rPr lang="en-US" sz="3200" b="1" dirty="0">
                <a:solidFill>
                  <a:schemeClr val="accent1"/>
                </a:solidFill>
                <a:latin typeface="Georgia" pitchFamily="34" charset="0"/>
                <a:ea typeface="Georgia" pitchFamily="34" charset="-122"/>
                <a:cs typeface="Georgia" pitchFamily="34" charset="-120"/>
              </a:rPr>
              <a:t>7,425</a:t>
            </a:r>
            <a:endParaRPr lang="en-US" sz="3200" dirty="0"/>
          </a:p>
        </p:txBody>
      </p:sp>
      <p:sp>
        <p:nvSpPr>
          <p:cNvPr id="6" name="Text 4"/>
          <p:cNvSpPr txBox="1"/>
          <p:nvPr/>
        </p:nvSpPr>
        <p:spPr>
          <a:xfrm>
            <a:off x="9464040" y="1645920"/>
            <a:ext cx="2011680" cy="1097280"/>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tambons (sub-districts), each with its own rainfall thresholds</a:t>
            </a:r>
            <a:endParaRPr lang="en-US" sz="1300" dirty="0"/>
          </a:p>
        </p:txBody>
      </p:sp>
      <p:sp>
        <p:nvSpPr>
          <p:cNvPr id="7" name="stat card 2"/>
          <p:cNvSpPr/>
          <p:nvPr/>
        </p:nvSpPr>
        <p:spPr>
          <a:xfrm>
            <a:off x="7040880" y="3063240"/>
            <a:ext cx="4572000" cy="1371600"/>
          </a:xfrm>
          <a:prstGeom prst="roundRect">
            <a:avLst>
              <a:gd name="adj" fmla="val 5333"/>
            </a:avLst>
          </a:prstGeom>
          <a:solidFill>
            <a:schemeClr val="bg2"/>
          </a:solidFill>
          <a:ln w="9525">
            <a:solidFill>
              <a:schemeClr val="bg2"/>
            </a:solidFill>
            <a:prstDash val="solid"/>
          </a:ln>
        </p:spPr>
      </p:sp>
      <p:sp>
        <p:nvSpPr>
          <p:cNvPr id="8" name="Text 6"/>
          <p:cNvSpPr txBox="1"/>
          <p:nvPr/>
        </p:nvSpPr>
        <p:spPr>
          <a:xfrm>
            <a:off x="7269480" y="3200400"/>
            <a:ext cx="2103120" cy="1097280"/>
          </a:xfrm>
          <a:prstGeom prst="rect">
            <a:avLst/>
          </a:prstGeom>
          <a:noFill/>
          <a:ln/>
        </p:spPr>
        <p:txBody>
          <a:bodyPr wrap="square" lIns="0" tIns="0" rIns="0" bIns="0" rtlCol="0" anchor="ctr"/>
          <a:lstStyle/>
          <a:p>
            <a:pPr indent="0" marL="0">
              <a:buNone/>
            </a:pPr>
            <a:r>
              <a:rPr lang="en-US" sz="3200" b="1" dirty="0">
                <a:solidFill>
                  <a:schemeClr val="accent1"/>
                </a:solidFill>
                <a:latin typeface="Georgia" pitchFamily="34" charset="0"/>
                <a:ea typeface="Georgia" pitchFamily="34" charset="-122"/>
                <a:cs typeface="Georgia" pitchFamily="34" charset="-120"/>
              </a:rPr>
              <a:t>77</a:t>
            </a:r>
            <a:endParaRPr lang="en-US" sz="3200" dirty="0"/>
          </a:p>
        </p:txBody>
      </p:sp>
      <p:sp>
        <p:nvSpPr>
          <p:cNvPr id="9" name="Text 7"/>
          <p:cNvSpPr txBox="1"/>
          <p:nvPr/>
        </p:nvSpPr>
        <p:spPr>
          <a:xfrm>
            <a:off x="9464040" y="3200400"/>
            <a:ext cx="2011680" cy="1097280"/>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provinces covered, updated twice a day</a:t>
            </a:r>
            <a:endParaRPr lang="en-US" sz="1300" dirty="0"/>
          </a:p>
        </p:txBody>
      </p:sp>
      <p:sp>
        <p:nvSpPr>
          <p:cNvPr id="10" name="stat card 3"/>
          <p:cNvSpPr/>
          <p:nvPr/>
        </p:nvSpPr>
        <p:spPr>
          <a:xfrm>
            <a:off x="7040880" y="4617720"/>
            <a:ext cx="4572000" cy="1371600"/>
          </a:xfrm>
          <a:prstGeom prst="roundRect">
            <a:avLst>
              <a:gd name="adj" fmla="val 5333"/>
            </a:avLst>
          </a:prstGeom>
          <a:solidFill>
            <a:schemeClr val="bg2"/>
          </a:solidFill>
          <a:ln w="9525">
            <a:solidFill>
              <a:schemeClr val="bg2"/>
            </a:solidFill>
            <a:prstDash val="solid"/>
          </a:ln>
        </p:spPr>
      </p:sp>
      <p:sp>
        <p:nvSpPr>
          <p:cNvPr id="11" name="Text 9"/>
          <p:cNvSpPr txBox="1"/>
          <p:nvPr/>
        </p:nvSpPr>
        <p:spPr>
          <a:xfrm>
            <a:off x="7269480" y="4754880"/>
            <a:ext cx="2103120" cy="1097280"/>
          </a:xfrm>
          <a:prstGeom prst="rect">
            <a:avLst/>
          </a:prstGeom>
          <a:noFill/>
          <a:ln/>
        </p:spPr>
        <p:txBody>
          <a:bodyPr wrap="square" lIns="0" tIns="0" rIns="0" bIns="0" rtlCol="0" anchor="ctr"/>
          <a:lstStyle/>
          <a:p>
            <a:pPr indent="0" marL="0">
              <a:buNone/>
            </a:pPr>
            <a:r>
              <a:rPr lang="en-US" sz="3200" b="1" dirty="0">
                <a:solidFill>
                  <a:schemeClr val="accent1"/>
                </a:solidFill>
                <a:latin typeface="Georgia" pitchFamily="34" charset="0"/>
                <a:ea typeface="Georgia" pitchFamily="34" charset="-122"/>
                <a:cs typeface="Georgia" pitchFamily="34" charset="-120"/>
              </a:rPr>
              <a:t>30 days</a:t>
            </a:r>
            <a:endParaRPr lang="en-US" sz="3200" dirty="0"/>
          </a:p>
        </p:txBody>
      </p:sp>
      <p:sp>
        <p:nvSpPr>
          <p:cNvPr id="12" name="Text 10"/>
          <p:cNvSpPr txBox="1"/>
          <p:nvPr/>
        </p:nvSpPr>
        <p:spPr>
          <a:xfrm>
            <a:off x="9464040" y="4754880"/>
            <a:ext cx="2011680" cy="1097280"/>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of observed rain plus a 5-day forecast, compared with each tambon's own history</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6"/>
          <p:cNvSpPr/>
          <p:nvPr>
            <p:ph idx="106" type="title" hasCustomPrompt="1"/>
          </p:nvPr>
        </p:nvSpPr>
        <p:spPr>
          <a:xfrm>
            <a:off x="548640" y="365760"/>
            <a:ext cx="9509760" cy="868680"/>
          </a:xfrm>
          <a:prstGeom prst="rect">
            <a:avLst/>
          </a:prstGeom>
          <a:noFill/>
          <a:ln/>
        </p:spPr>
        <p:txBody>
          <a:bodyPr wrap="square" lIns="0" tIns="0" rIns="0" bIns="0" rtlCol="0" anchor="t"/>
          <a:lstStyle/>
          <a:p>
            <a:pPr algn="l" indent="0" marL="0">
              <a:buNone/>
            </a:pPr>
            <a:r>
              <a:rPr lang="en-US" sz="3000" b="1" dirty="0">
                <a:solidFill>
                  <a:schemeClr val="tx1"/>
                </a:solidFill>
                <a:latin typeface="Georgia" pitchFamily="34" charset="0"/>
                <a:ea typeface="Georgia" pitchFamily="34" charset="-122"/>
                <a:cs typeface="Georgia" pitchFamily="34" charset="-120"/>
              </a:rPr>
              <a:t>Who it helps, and how</a:t>
            </a:r>
            <a:endParaRPr lang="en-US" sz="3000" dirty="0"/>
          </a:p>
        </p:txBody>
      </p:sp>
      <p:sp>
        <p:nvSpPr>
          <p:cNvPr id="3" name="audience card 1"/>
          <p:cNvSpPr/>
          <p:nvPr/>
        </p:nvSpPr>
        <p:spPr>
          <a:xfrm>
            <a:off x="548640" y="1463040"/>
            <a:ext cx="3611880" cy="4572000"/>
          </a:xfrm>
          <a:prstGeom prst="roundRect">
            <a:avLst>
              <a:gd name="adj" fmla="val 2025"/>
            </a:avLst>
          </a:prstGeom>
          <a:solidFill>
            <a:schemeClr val="bg2"/>
          </a:solidFill>
          <a:ln w="9525">
            <a:solidFill>
              <a:schemeClr val="bg2"/>
            </a:solidFill>
            <a:prstDash val="solid"/>
          </a:ln>
        </p:spPr>
      </p:sp>
      <p:sp>
        <p:nvSpPr>
          <p:cNvPr id="4" name="Planners and local government badge"/>
          <p:cNvSpPr/>
          <p:nvPr/>
        </p:nvSpPr>
        <p:spPr>
          <a:xfrm>
            <a:off x="822960" y="1737360"/>
            <a:ext cx="731520" cy="731520"/>
          </a:xfrm>
          <a:prstGeom prst="ellipse">
            <a:avLst/>
          </a:prstGeom>
          <a:solidFill>
            <a:srgbClr val="6B3F24"/>
          </a:solidFill>
          <a:ln w="12700">
            <a:solidFill>
              <a:srgbClr val="6B3F24"/>
            </a:solidFill>
            <a:prstDash val="solid"/>
          </a:ln>
        </p:spPr>
      </p:sp>
      <p:pic>
        <p:nvPicPr>
          <p:cNvPr id="5" name="Planners and local government" descr="Planners and local government">    </p:cNvPr>
          <p:cNvPicPr>
            <a:picLocks noChangeAspect="1"/>
          </p:cNvPicPr>
          <p:nvPr/>
        </p:nvPicPr>
        <p:blipFill>
          <a:blip r:embed="rId1"/>
          <a:stretch>
            <a:fillRect/>
          </a:stretch>
        </p:blipFill>
        <p:spPr>
          <a:xfrm>
            <a:off x="998525" y="1912925"/>
            <a:ext cx="380390" cy="380390"/>
          </a:xfrm>
          <a:prstGeom prst="rect">
            <a:avLst/>
          </a:prstGeom>
        </p:spPr>
      </p:pic>
      <p:sp>
        <p:nvSpPr>
          <p:cNvPr id="6" name="Text 3"/>
          <p:cNvSpPr txBox="1"/>
          <p:nvPr/>
        </p:nvSpPr>
        <p:spPr>
          <a:xfrm>
            <a:off x="822960" y="2651760"/>
            <a:ext cx="3063240" cy="731520"/>
          </a:xfrm>
          <a:prstGeom prst="rect">
            <a:avLst/>
          </a:prstGeom>
          <a:noFill/>
          <a:ln/>
        </p:spPr>
        <p:txBody>
          <a:bodyPr wrap="square" lIns="0" tIns="0" rIns="0" bIns="0" rtlCol="0" anchor="t"/>
          <a:lstStyle/>
          <a:p>
            <a:pPr indent="0" marL="0">
              <a:buNone/>
            </a:pPr>
            <a:r>
              <a:rPr lang="en-US" sz="2000" b="1" dirty="0">
                <a:solidFill>
                  <a:schemeClr val="tx1"/>
                </a:solidFill>
                <a:latin typeface="Georgia" pitchFamily="34" charset="0"/>
                <a:ea typeface="Georgia" pitchFamily="34" charset="-122"/>
                <a:cs typeface="Georgia" pitchFamily="34" charset="-120"/>
              </a:rPr>
              <a:t>Planners and local government</a:t>
            </a:r>
            <a:endParaRPr lang="en-US" sz="2000" dirty="0"/>
          </a:p>
        </p:txBody>
      </p:sp>
      <p:sp>
        <p:nvSpPr>
          <p:cNvPr id="7" name="Text 4"/>
          <p:cNvSpPr txBox="1"/>
          <p:nvPr/>
        </p:nvSpPr>
        <p:spPr>
          <a:xfrm>
            <a:off x="822960" y="3474720"/>
            <a:ext cx="3108960"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Arial" pitchFamily="34" charset="0"/>
                <a:ea typeface="Arial" pitchFamily="34" charset="-122"/>
                <a:cs typeface="Arial" pitchFamily="34" charset="-120"/>
              </a:rPr>
              <a:t>Compare 150 mm with 300 mm before the rain arrives.</a:t>
            </a:r>
            <a:endParaRPr lang="en-US" sz="1600" dirty="0"/>
          </a:p>
          <a:p>
            <a:pPr marL="342900" indent="-342900">
              <a:spcAft>
                <a:spcPts val="800"/>
              </a:spcAft>
              <a:buSzPct val="100000"/>
              <a:buChar char="•"/>
            </a:pPr>
            <a:r>
              <a:rPr lang="en-US" sz="1600" dirty="0">
                <a:solidFill>
                  <a:schemeClr val="tx1"/>
                </a:solidFill>
                <a:latin typeface="Arial" pitchFamily="34" charset="0"/>
                <a:ea typeface="Arial" pitchFamily="34" charset="-122"/>
                <a:cs typeface="Arial" pitchFamily="34" charset="-120"/>
              </a:rPr>
              <a:t>See which sub-districts to check first.</a:t>
            </a:r>
            <a:endParaRPr lang="en-US" sz="1600" dirty="0"/>
          </a:p>
          <a:p>
            <a:pPr marL="342900" indent="-342900">
              <a:spcAft>
                <a:spcPts val="800"/>
              </a:spcAft>
              <a:buSzPct val="100000"/>
              <a:buChar char="•"/>
            </a:pPr>
            <a:r>
              <a:rPr lang="en-US" sz="1600" dirty="0">
                <a:solidFill>
                  <a:schemeClr val="tx1"/>
                </a:solidFill>
                <a:latin typeface="Arial" pitchFamily="34" charset="0"/>
                <a:ea typeface="Arial" pitchFamily="34" charset="-122"/>
                <a:cs typeface="Arial" pitchFamily="34" charset="-120"/>
              </a:rPr>
              <a:t>Export an editable PDF report in English or Thai.</a:t>
            </a:r>
            <a:endParaRPr lang="en-US" sz="1600" dirty="0"/>
          </a:p>
        </p:txBody>
      </p:sp>
      <p:sp>
        <p:nvSpPr>
          <p:cNvPr id="8" name="audience card 2"/>
          <p:cNvSpPr/>
          <p:nvPr/>
        </p:nvSpPr>
        <p:spPr>
          <a:xfrm>
            <a:off x="4343400" y="1463040"/>
            <a:ext cx="3611880" cy="4572000"/>
          </a:xfrm>
          <a:prstGeom prst="roundRect">
            <a:avLst>
              <a:gd name="adj" fmla="val 2025"/>
            </a:avLst>
          </a:prstGeom>
          <a:solidFill>
            <a:schemeClr val="bg2"/>
          </a:solidFill>
          <a:ln w="9525">
            <a:solidFill>
              <a:schemeClr val="bg2"/>
            </a:solidFill>
            <a:prstDash val="solid"/>
          </a:ln>
        </p:spPr>
      </p:sp>
      <p:sp>
        <p:nvSpPr>
          <p:cNvPr id="9" name="Responders, hospitals and schools badge"/>
          <p:cNvSpPr/>
          <p:nvPr/>
        </p:nvSpPr>
        <p:spPr>
          <a:xfrm>
            <a:off x="4617720" y="1737360"/>
            <a:ext cx="731520" cy="731520"/>
          </a:xfrm>
          <a:prstGeom prst="ellipse">
            <a:avLst/>
          </a:prstGeom>
          <a:solidFill>
            <a:srgbClr val="C62828"/>
          </a:solidFill>
          <a:ln w="12700">
            <a:solidFill>
              <a:srgbClr val="C62828"/>
            </a:solidFill>
            <a:prstDash val="solid"/>
          </a:ln>
        </p:spPr>
      </p:sp>
      <p:pic>
        <p:nvPicPr>
          <p:cNvPr id="10" name="Responders, hospitals and schools" descr="Responders, hospitals and schools">    </p:cNvPr>
          <p:cNvPicPr>
            <a:picLocks noChangeAspect="1"/>
          </p:cNvPicPr>
          <p:nvPr/>
        </p:nvPicPr>
        <p:blipFill>
          <a:blip r:embed="rId2"/>
          <a:stretch>
            <a:fillRect/>
          </a:stretch>
        </p:blipFill>
        <p:spPr>
          <a:xfrm>
            <a:off x="4793285" y="1912925"/>
            <a:ext cx="380390" cy="380390"/>
          </a:xfrm>
          <a:prstGeom prst="rect">
            <a:avLst/>
          </a:prstGeom>
        </p:spPr>
      </p:pic>
      <p:sp>
        <p:nvSpPr>
          <p:cNvPr id="11" name="Text 7"/>
          <p:cNvSpPr txBox="1"/>
          <p:nvPr/>
        </p:nvSpPr>
        <p:spPr>
          <a:xfrm>
            <a:off x="4617720" y="2651760"/>
            <a:ext cx="3063240" cy="731520"/>
          </a:xfrm>
          <a:prstGeom prst="rect">
            <a:avLst/>
          </a:prstGeom>
          <a:noFill/>
          <a:ln/>
        </p:spPr>
        <p:txBody>
          <a:bodyPr wrap="square" lIns="0" tIns="0" rIns="0" bIns="0" rtlCol="0" anchor="t"/>
          <a:lstStyle/>
          <a:p>
            <a:pPr indent="0" marL="0">
              <a:buNone/>
            </a:pPr>
            <a:r>
              <a:rPr lang="en-US" sz="2000" b="1" dirty="0">
                <a:solidFill>
                  <a:schemeClr val="tx1"/>
                </a:solidFill>
                <a:latin typeface="Georgia" pitchFamily="34" charset="0"/>
                <a:ea typeface="Georgia" pitchFamily="34" charset="-122"/>
                <a:cs typeface="Georgia" pitchFamily="34" charset="-120"/>
              </a:rPr>
              <a:t>Responders, hospitals and schools</a:t>
            </a:r>
            <a:endParaRPr lang="en-US" sz="2000" dirty="0"/>
          </a:p>
        </p:txBody>
      </p:sp>
      <p:sp>
        <p:nvSpPr>
          <p:cNvPr id="12" name="Text 8"/>
          <p:cNvSpPr txBox="1"/>
          <p:nvPr/>
        </p:nvSpPr>
        <p:spPr>
          <a:xfrm>
            <a:off x="4617720" y="3474720"/>
            <a:ext cx="3108960"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Arial" pitchFamily="34" charset="0"/>
                <a:ea typeface="Arial" pitchFamily="34" charset="-122"/>
                <a:cs typeface="Arial" pitchFamily="34" charset="-120"/>
              </a:rPr>
              <a:t>See buildings, main roads, hospitals and schools inside the Moderate-or-higher zone.</a:t>
            </a:r>
            <a:endParaRPr lang="en-US" sz="1600" dirty="0"/>
          </a:p>
          <a:p>
            <a:pPr marL="342900" indent="-342900">
              <a:spcAft>
                <a:spcPts val="800"/>
              </a:spcAft>
              <a:buSzPct val="100000"/>
              <a:buChar char="•"/>
            </a:pPr>
            <a:r>
              <a:rPr lang="en-US" sz="1600" dirty="0">
                <a:solidFill>
                  <a:schemeClr val="tx1"/>
                </a:solidFill>
                <a:latin typeface="Arial" pitchFamily="34" charset="0"/>
                <a:ea typeface="Arial" pitchFamily="34" charset="-122"/>
                <a:cs typeface="Arial" pitchFamily="34" charset="-120"/>
              </a:rPr>
              <a:t>Follow a 5-day outlook and get an in-app alert when a watched province gets riskier.</a:t>
            </a:r>
            <a:endParaRPr lang="en-US" sz="1600" dirty="0"/>
          </a:p>
        </p:txBody>
      </p:sp>
      <p:sp>
        <p:nvSpPr>
          <p:cNvPr id="13" name="audience card 3"/>
          <p:cNvSpPr/>
          <p:nvPr/>
        </p:nvSpPr>
        <p:spPr>
          <a:xfrm>
            <a:off x="8138160" y="1463040"/>
            <a:ext cx="3611880" cy="4572000"/>
          </a:xfrm>
          <a:prstGeom prst="roundRect">
            <a:avLst>
              <a:gd name="adj" fmla="val 2025"/>
            </a:avLst>
          </a:prstGeom>
          <a:solidFill>
            <a:schemeClr val="bg2"/>
          </a:solidFill>
          <a:ln w="9525">
            <a:solidFill>
              <a:schemeClr val="bg2"/>
            </a:solidFill>
            <a:prstDash val="solid"/>
          </a:ln>
        </p:spPr>
      </p:sp>
      <p:sp>
        <p:nvSpPr>
          <p:cNvPr id="14" name="Communities badge"/>
          <p:cNvSpPr/>
          <p:nvPr/>
        </p:nvSpPr>
        <p:spPr>
          <a:xfrm>
            <a:off x="8412480" y="1737360"/>
            <a:ext cx="731520" cy="731520"/>
          </a:xfrm>
          <a:prstGeom prst="ellipse">
            <a:avLst/>
          </a:prstGeom>
          <a:solidFill>
            <a:srgbClr val="2E7D5B"/>
          </a:solidFill>
          <a:ln w="12700">
            <a:solidFill>
              <a:srgbClr val="2E7D5B"/>
            </a:solidFill>
            <a:prstDash val="solid"/>
          </a:ln>
        </p:spPr>
      </p:sp>
      <p:pic>
        <p:nvPicPr>
          <p:cNvPr id="15" name="Communities" descr="Communities">    </p:cNvPr>
          <p:cNvPicPr>
            <a:picLocks noChangeAspect="1"/>
          </p:cNvPicPr>
          <p:nvPr/>
        </p:nvPicPr>
        <p:blipFill>
          <a:blip r:embed="rId3"/>
          <a:stretch>
            <a:fillRect/>
          </a:stretch>
        </p:blipFill>
        <p:spPr>
          <a:xfrm>
            <a:off x="8588045" y="1912925"/>
            <a:ext cx="380390" cy="380390"/>
          </a:xfrm>
          <a:prstGeom prst="rect">
            <a:avLst/>
          </a:prstGeom>
        </p:spPr>
      </p:pic>
      <p:sp>
        <p:nvSpPr>
          <p:cNvPr id="16" name="Text 11"/>
          <p:cNvSpPr txBox="1"/>
          <p:nvPr/>
        </p:nvSpPr>
        <p:spPr>
          <a:xfrm>
            <a:off x="8412480" y="2651760"/>
            <a:ext cx="3063240" cy="731520"/>
          </a:xfrm>
          <a:prstGeom prst="rect">
            <a:avLst/>
          </a:prstGeom>
          <a:noFill/>
          <a:ln/>
        </p:spPr>
        <p:txBody>
          <a:bodyPr wrap="square" lIns="0" tIns="0" rIns="0" bIns="0" rtlCol="0" anchor="t"/>
          <a:lstStyle/>
          <a:p>
            <a:pPr indent="0" marL="0">
              <a:buNone/>
            </a:pPr>
            <a:r>
              <a:rPr lang="en-US" sz="2000" b="1" dirty="0">
                <a:solidFill>
                  <a:schemeClr val="tx1"/>
                </a:solidFill>
                <a:latin typeface="Georgia" pitchFamily="34" charset="0"/>
                <a:ea typeface="Georgia" pitchFamily="34" charset="-122"/>
                <a:cs typeface="Georgia" pitchFamily="34" charset="-120"/>
              </a:rPr>
              <a:t>Communities</a:t>
            </a:r>
            <a:endParaRPr lang="en-US" sz="2000" dirty="0"/>
          </a:p>
        </p:txBody>
      </p:sp>
      <p:sp>
        <p:nvSpPr>
          <p:cNvPr id="17" name="Text 12"/>
          <p:cNvSpPr txBox="1"/>
          <p:nvPr/>
        </p:nvSpPr>
        <p:spPr>
          <a:xfrm>
            <a:off x="8412480" y="3474720"/>
            <a:ext cx="3108960"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Arial" pitchFamily="34" charset="0"/>
                <a:ea typeface="Arial" pitchFamily="34" charset="-122"/>
                <a:cs typeface="Arial" pitchFamily="34" charset="-120"/>
              </a:rPr>
              <a:t>Report a landslide or blocked road with a photo that AI checks before it is shown.</a:t>
            </a:r>
            <a:endParaRPr lang="en-US" sz="1600" dirty="0"/>
          </a:p>
          <a:p>
            <a:pPr marL="342900" indent="-342900">
              <a:spcAft>
                <a:spcPts val="800"/>
              </a:spcAft>
              <a:buSzPct val="100000"/>
              <a:buChar char="•"/>
            </a:pPr>
            <a:r>
              <a:rPr lang="en-US" sz="1600" dirty="0">
                <a:solidFill>
                  <a:schemeClr val="tx1"/>
                </a:solidFill>
                <a:latin typeface="Arial" pitchFamily="34" charset="0"/>
                <a:ea typeface="Arial" pitchFamily="34" charset="-122"/>
                <a:cs typeface="Arial" pitchFamily="34" charset="-120"/>
              </a:rPr>
              <a:t>Find candidate safe places on low-risk ground and preview a route.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6"/>
          <p:cNvSpPr/>
          <p:nvPr>
            <p:ph idx="106" type="title" hasCustomPrompt="1"/>
          </p:nvPr>
        </p:nvSpPr>
        <p:spPr>
          <a:xfrm>
            <a:off x="548640" y="365760"/>
            <a:ext cx="9509760" cy="868680"/>
          </a:xfrm>
          <a:prstGeom prst="rect">
            <a:avLst/>
          </a:prstGeom>
          <a:noFill/>
          <a:ln/>
        </p:spPr>
        <p:txBody>
          <a:bodyPr wrap="square" lIns="0" tIns="0" rIns="0" bIns="0" rtlCol="0" anchor="t"/>
          <a:lstStyle/>
          <a:p>
            <a:pPr algn="l" indent="0" marL="0">
              <a:buNone/>
            </a:pPr>
            <a:r>
              <a:rPr lang="en-US" sz="3000" b="1" dirty="0">
                <a:solidFill>
                  <a:schemeClr val="tx1"/>
                </a:solidFill>
                <a:latin typeface="Georgia" pitchFamily="34" charset="0"/>
                <a:ea typeface="Georgia" pitchFamily="34" charset="-122"/>
                <a:cs typeface="Georgia" pitchFamily="34" charset="-120"/>
              </a:rPr>
              <a:t>One screen for the whole country, today and for the next five days</a:t>
            </a:r>
            <a:endParaRPr lang="en-US" sz="3000" dirty="0"/>
          </a:p>
        </p:txBody>
      </p:sp>
      <p:pic>
        <p:nvPicPr>
          <p:cNvPr id="3" name="National overview screenshot" descr="National overview screenshot">    </p:cNvPr>
          <p:cNvPicPr>
            <a:picLocks noChangeAspect="1"/>
          </p:cNvPicPr>
          <p:nvPr/>
        </p:nvPicPr>
        <p:blipFill>
          <a:blip r:embed="rId1"/>
          <a:stretch>
            <a:fillRect/>
          </a:stretch>
        </p:blipFill>
        <p:spPr>
          <a:xfrm>
            <a:off x="548640" y="1463040"/>
            <a:ext cx="7498080" cy="4160520"/>
          </a:xfrm>
          <a:prstGeom prst="rect">
            <a:avLst/>
          </a:prstGeom>
        </p:spPr>
      </p:pic>
      <p:sp>
        <p:nvSpPr>
          <p:cNvPr id="4" name="Text 1"/>
          <p:cNvSpPr txBox="1"/>
          <p:nvPr/>
        </p:nvSpPr>
        <p:spPr>
          <a:xfrm>
            <a:off x="8366760" y="1463040"/>
            <a:ext cx="3291840" cy="32004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Risk by province</a:t>
            </a:r>
            <a:endParaRPr lang="en-US" sz="1600" dirty="0"/>
          </a:p>
        </p:txBody>
      </p:sp>
      <p:sp>
        <p:nvSpPr>
          <p:cNvPr id="5" name="Text 2"/>
          <p:cNvSpPr txBox="1"/>
          <p:nvPr/>
        </p:nvSpPr>
        <p:spPr>
          <a:xfrm>
            <a:off x="8366760" y="1828800"/>
            <a:ext cx="3291840" cy="10058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Latest observed risk, coloured by class, with a play button for the next five days.</a:t>
            </a:r>
            <a:endParaRPr lang="en-US" sz="1400" dirty="0"/>
          </a:p>
        </p:txBody>
      </p:sp>
      <p:sp>
        <p:nvSpPr>
          <p:cNvPr id="6" name="Text 3"/>
          <p:cNvSpPr txBox="1"/>
          <p:nvPr/>
        </p:nvSpPr>
        <p:spPr>
          <a:xfrm>
            <a:off x="8366760" y="2926080"/>
            <a:ext cx="3291840" cy="32004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Key figures</a:t>
            </a:r>
            <a:endParaRPr lang="en-US" sz="1600" dirty="0"/>
          </a:p>
        </p:txBody>
      </p:sp>
      <p:sp>
        <p:nvSpPr>
          <p:cNvPr id="7" name="Text 4"/>
          <p:cNvSpPr txBox="1"/>
          <p:nvPr/>
        </p:nvSpPr>
        <p:spPr>
          <a:xfrm>
            <a:off x="8366760" y="3291840"/>
            <a:ext cx="3291840" cy="10058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401 of 7,425 tambons above their rainfall trigger in 29 of 77 provinces (16 Oct).</a:t>
            </a:r>
            <a:endParaRPr lang="en-US" sz="1400" dirty="0"/>
          </a:p>
        </p:txBody>
      </p:sp>
      <p:sp>
        <p:nvSpPr>
          <p:cNvPr id="8" name="Text 5"/>
          <p:cNvSpPr txBox="1"/>
          <p:nvPr/>
        </p:nvSpPr>
        <p:spPr>
          <a:xfrm>
            <a:off x="8366760" y="4389120"/>
            <a:ext cx="3291840" cy="32004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Reference layers</a:t>
            </a:r>
            <a:endParaRPr lang="en-US" sz="1600" dirty="0"/>
          </a:p>
        </p:txBody>
      </p:sp>
      <p:sp>
        <p:nvSpPr>
          <p:cNvPr id="9" name="Text 6"/>
          <p:cNvSpPr txBox="1"/>
          <p:nvPr/>
        </p:nvSpPr>
        <p:spPr>
          <a:xfrm>
            <a:off x="8366760" y="4754880"/>
            <a:ext cx="3291840" cy="10058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Susceptibility, vulnerability, exposure and population, each switchable.</a:t>
            </a:r>
            <a:endParaRPr lang="en-US" sz="1400" dirty="0"/>
          </a:p>
        </p:txBody>
      </p:sp>
      <p:sp>
        <p:nvSpPr>
          <p:cNvPr id="10" name="Text 7"/>
          <p:cNvSpPr txBox="1"/>
          <p:nvPr/>
        </p:nvSpPr>
        <p:spPr>
          <a:xfrm>
            <a:off x="548640" y="5715000"/>
            <a:ext cx="7498080" cy="365760"/>
          </a:xfrm>
          <a:prstGeom prst="rect">
            <a:avLst/>
          </a:prstGeom>
          <a:noFill/>
          <a:ln/>
        </p:spPr>
        <p:txBody>
          <a:bodyPr wrap="square" lIns="0" tIns="0" rIns="0" bIns="0" rtlCol="0" anchor="t"/>
          <a:lstStyle/>
          <a:p>
            <a:pPr indent="0" marL="0">
              <a:buNone/>
            </a:pPr>
            <a:r>
              <a:rPr lang="en-US" sz="1100" i="1" dirty="0">
                <a:solidFill>
                  <a:schemeClr val="accent6"/>
                </a:solidFill>
                <a:latin typeface="Arial" pitchFamily="34" charset="0"/>
                <a:ea typeface="Arial" pitchFamily="34" charset="-122"/>
                <a:cs typeface="Arial" pitchFamily="34" charset="-120"/>
              </a:rPr>
              <a:t>Live screen, 16 October 2026: national overview with the 5-day forecast slider.</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6"/>
          <p:cNvSpPr/>
          <p:nvPr>
            <p:ph idx="106" type="title" hasCustomPrompt="1"/>
          </p:nvPr>
        </p:nvSpPr>
        <p:spPr>
          <a:xfrm>
            <a:off x="548640" y="365760"/>
            <a:ext cx="9509760" cy="868680"/>
          </a:xfrm>
          <a:prstGeom prst="rect">
            <a:avLst/>
          </a:prstGeom>
          <a:noFill/>
          <a:ln/>
        </p:spPr>
        <p:txBody>
          <a:bodyPr wrap="square" lIns="0" tIns="0" rIns="0" bIns="0" rtlCol="0" anchor="t"/>
          <a:lstStyle/>
          <a:p>
            <a:pPr algn="l" indent="0" marL="0">
              <a:buNone/>
            </a:pPr>
            <a:r>
              <a:rPr lang="en-US" sz="3000" b="1" dirty="0">
                <a:solidFill>
                  <a:schemeClr val="tx1"/>
                </a:solidFill>
                <a:latin typeface="Georgia" pitchFamily="34" charset="0"/>
                <a:ea typeface="Georgia" pitchFamily="34" charset="-122"/>
                <a:cs typeface="Georgia" pitchFamily="34" charset="-120"/>
              </a:rPr>
              <a:t>Ask in plain language, in English or Thai</a:t>
            </a:r>
            <a:endParaRPr lang="en-US" sz="3000" dirty="0"/>
          </a:p>
        </p:txBody>
      </p:sp>
      <p:pic>
        <p:nvPicPr>
          <p:cNvPr id="3" name="Assistant answering a ranking question" descr="Assistant answering a ranking question">    </p:cNvPr>
          <p:cNvPicPr>
            <a:picLocks noChangeAspect="1"/>
          </p:cNvPicPr>
          <p:nvPr/>
        </p:nvPicPr>
        <p:blipFill>
          <a:blip r:embed="rId1"/>
          <a:stretch>
            <a:fillRect/>
          </a:stretch>
        </p:blipFill>
        <p:spPr>
          <a:xfrm>
            <a:off x="548640" y="1371600"/>
            <a:ext cx="3136392" cy="4892040"/>
          </a:xfrm>
          <a:prstGeom prst="rect">
            <a:avLst/>
          </a:prstGeom>
        </p:spPr>
      </p:pic>
      <p:sp>
        <p:nvSpPr>
          <p:cNvPr id="4" name="question card 1"/>
          <p:cNvSpPr/>
          <p:nvPr/>
        </p:nvSpPr>
        <p:spPr>
          <a:xfrm>
            <a:off x="4114800" y="1371600"/>
            <a:ext cx="7543800" cy="1097280"/>
          </a:xfrm>
          <a:prstGeom prst="roundRect">
            <a:avLst>
              <a:gd name="adj" fmla="val 6667"/>
            </a:avLst>
          </a:prstGeom>
          <a:solidFill>
            <a:schemeClr val="bg2"/>
          </a:solidFill>
          <a:ln w="9525">
            <a:solidFill>
              <a:schemeClr val="bg2"/>
            </a:solidFill>
            <a:prstDash val="solid"/>
          </a:ln>
        </p:spPr>
      </p:sp>
      <p:sp>
        <p:nvSpPr>
          <p:cNvPr id="5" name="Text 2"/>
          <p:cNvSpPr txBox="1"/>
          <p:nvPr/>
        </p:nvSpPr>
        <p:spPr>
          <a:xfrm>
            <a:off x="4343400" y="1481328"/>
            <a:ext cx="7132320" cy="36576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What if 250 mm falls on Nan in 3 days?</a:t>
            </a:r>
            <a:endParaRPr lang="en-US" sz="1600" dirty="0"/>
          </a:p>
        </p:txBody>
      </p:sp>
      <p:sp>
        <p:nvSpPr>
          <p:cNvPr id="6" name="Text 3"/>
          <p:cNvSpPr txBox="1"/>
          <p:nvPr/>
        </p:nvSpPr>
        <p:spPr>
          <a:xfrm>
            <a:off x="4343400" y="1920240"/>
            <a:ext cx="7132320" cy="5486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Risk map, tambon table, people, buildings, roads, hospitals and schools.</a:t>
            </a:r>
            <a:endParaRPr lang="en-US" sz="1400" dirty="0"/>
          </a:p>
        </p:txBody>
      </p:sp>
      <p:sp>
        <p:nvSpPr>
          <p:cNvPr id="7" name="question card 2"/>
          <p:cNvSpPr/>
          <p:nvPr/>
        </p:nvSpPr>
        <p:spPr>
          <a:xfrm>
            <a:off x="4114800" y="2606040"/>
            <a:ext cx="7543800" cy="1097280"/>
          </a:xfrm>
          <a:prstGeom prst="roundRect">
            <a:avLst>
              <a:gd name="adj" fmla="val 6667"/>
            </a:avLst>
          </a:prstGeom>
          <a:solidFill>
            <a:schemeClr val="bg2"/>
          </a:solidFill>
          <a:ln w="9525">
            <a:solidFill>
              <a:schemeClr val="bg2"/>
            </a:solidFill>
            <a:prstDash val="solid"/>
          </a:ln>
        </p:spPr>
      </p:sp>
      <p:sp>
        <p:nvSpPr>
          <p:cNvPr id="8" name="Text 5"/>
          <p:cNvSpPr txBox="1"/>
          <p:nvPr/>
        </p:nvSpPr>
        <p:spPr>
          <a:xfrm>
            <a:off x="4343400" y="2715768"/>
            <a:ext cx="7132320" cy="36576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Which provinces have the highest landslide risk this week?</a:t>
            </a:r>
            <a:endParaRPr lang="en-US" sz="1600" dirty="0"/>
          </a:p>
        </p:txBody>
      </p:sp>
      <p:sp>
        <p:nvSpPr>
          <p:cNvPr id="9" name="Text 6"/>
          <p:cNvSpPr txBox="1"/>
          <p:nvPr/>
        </p:nvSpPr>
        <p:spPr>
          <a:xfrm>
            <a:off x="4343400" y="3154680"/>
            <a:ext cx="7132320" cy="5486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A ranked list and table, with the data date and forecast run time.</a:t>
            </a:r>
            <a:endParaRPr lang="en-US" sz="1400" dirty="0"/>
          </a:p>
        </p:txBody>
      </p:sp>
      <p:sp>
        <p:nvSpPr>
          <p:cNvPr id="10" name="question card 3"/>
          <p:cNvSpPr/>
          <p:nvPr/>
        </p:nvSpPr>
        <p:spPr>
          <a:xfrm>
            <a:off x="4114800" y="3840480"/>
            <a:ext cx="7543800" cy="1097280"/>
          </a:xfrm>
          <a:prstGeom prst="roundRect">
            <a:avLst>
              <a:gd name="adj" fmla="val 6667"/>
            </a:avLst>
          </a:prstGeom>
          <a:solidFill>
            <a:schemeClr val="bg2"/>
          </a:solidFill>
          <a:ln w="9525">
            <a:solidFill>
              <a:schemeClr val="bg2"/>
            </a:solidFill>
            <a:prstDash val="solid"/>
          </a:ln>
        </p:spPr>
      </p:sp>
      <p:sp>
        <p:nvSpPr>
          <p:cNvPr id="11" name="Text 8"/>
          <p:cNvSpPr txBox="1"/>
          <p:nvPr/>
        </p:nvSpPr>
        <p:spPr>
          <a:xfrm>
            <a:off x="4343400" y="3950208"/>
            <a:ext cx="7132320" cy="36576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How many schools and hospitals are at risk in Chon Buri?</a:t>
            </a:r>
            <a:endParaRPr lang="en-US" sz="1600" dirty="0"/>
          </a:p>
        </p:txBody>
      </p:sp>
      <p:sp>
        <p:nvSpPr>
          <p:cNvPr id="12" name="Text 9"/>
          <p:cNvSpPr txBox="1"/>
          <p:nvPr/>
        </p:nvSpPr>
        <p:spPr>
          <a:xfrm>
            <a:off x="4343400" y="4389120"/>
            <a:ext cx="7132320" cy="5486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Counts for the country, a province, a district or one tambon, plus named facilities.</a:t>
            </a:r>
            <a:endParaRPr lang="en-US" sz="1400" dirty="0"/>
          </a:p>
        </p:txBody>
      </p:sp>
      <p:sp>
        <p:nvSpPr>
          <p:cNvPr id="13" name="question card 4"/>
          <p:cNvSpPr/>
          <p:nvPr/>
        </p:nvSpPr>
        <p:spPr>
          <a:xfrm>
            <a:off x="4114800" y="5074920"/>
            <a:ext cx="7543800" cy="1097280"/>
          </a:xfrm>
          <a:prstGeom prst="roundRect">
            <a:avLst>
              <a:gd name="adj" fmla="val 6667"/>
            </a:avLst>
          </a:prstGeom>
          <a:solidFill>
            <a:schemeClr val="bg2"/>
          </a:solidFill>
          <a:ln w="9525">
            <a:solidFill>
              <a:schemeClr val="bg2"/>
            </a:solidFill>
            <a:prstDash val="solid"/>
          </a:ln>
        </p:spPr>
      </p:sp>
      <p:sp>
        <p:nvSpPr>
          <p:cNvPr id="14" name="Text 11"/>
          <p:cNvSpPr txBox="1"/>
          <p:nvPr/>
        </p:nvSpPr>
        <p:spPr>
          <a:xfrm>
            <a:off x="4343400" y="5184648"/>
            <a:ext cx="7132320" cy="36576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And in Chiang Mai? / What about next week?</a:t>
            </a:r>
            <a:endParaRPr lang="en-US" sz="1600" dirty="0"/>
          </a:p>
        </p:txBody>
      </p:sp>
      <p:sp>
        <p:nvSpPr>
          <p:cNvPr id="15" name="Text 12"/>
          <p:cNvSpPr txBox="1"/>
          <p:nvPr/>
        </p:nvSpPr>
        <p:spPr>
          <a:xfrm>
            <a:off x="4343400" y="5623560"/>
            <a:ext cx="7132320" cy="5486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Follow-ups keep the place, the time horizon and the risk class.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6"/>
          <p:cNvSpPr/>
          <p:nvPr>
            <p:ph idx="106" type="title" hasCustomPrompt="1"/>
          </p:nvPr>
        </p:nvSpPr>
        <p:spPr>
          <a:xfrm>
            <a:off x="548640" y="365760"/>
            <a:ext cx="9509760" cy="868680"/>
          </a:xfrm>
          <a:prstGeom prst="rect">
            <a:avLst/>
          </a:prstGeom>
          <a:noFill/>
          <a:ln/>
        </p:spPr>
        <p:txBody>
          <a:bodyPr wrap="square" lIns="0" tIns="0" rIns="0" bIns="0" rtlCol="0" anchor="t"/>
          <a:lstStyle/>
          <a:p>
            <a:pPr algn="l" indent="0" marL="0">
              <a:buNone/>
            </a:pPr>
            <a:r>
              <a:rPr lang="en-US" sz="3000" b="1" dirty="0">
                <a:solidFill>
                  <a:schemeClr val="tx1"/>
                </a:solidFill>
                <a:latin typeface="Georgia" pitchFamily="34" charset="0"/>
                <a:ea typeface="Georgia" pitchFamily="34" charset="-122"/>
                <a:cs typeface="Georgia" pitchFamily="34" charset="-120"/>
              </a:rPr>
              <a:t>See what is exposed: buildings, roads, hospitals and schools</a:t>
            </a:r>
            <a:endParaRPr lang="en-US" sz="3000" dirty="0"/>
          </a:p>
        </p:txBody>
      </p:sp>
      <p:pic>
        <p:nvPicPr>
          <p:cNvPr id="3" name="Chiang Mai scenario with affected infrastructure" descr="Chiang Mai scenario with affected infrastructure">    </p:cNvPr>
          <p:cNvPicPr>
            <a:picLocks noChangeAspect="1"/>
          </p:cNvPicPr>
          <p:nvPr/>
        </p:nvPicPr>
        <p:blipFill>
          <a:blip r:embed="rId1"/>
          <a:stretch>
            <a:fillRect/>
          </a:stretch>
        </p:blipFill>
        <p:spPr>
          <a:xfrm>
            <a:off x="548640" y="1417320"/>
            <a:ext cx="6583680" cy="3657600"/>
          </a:xfrm>
          <a:prstGeom prst="rect">
            <a:avLst/>
          </a:prstGeom>
        </p:spPr>
      </p:pic>
      <p:pic>
        <p:nvPicPr>
          <p:cNvPr id="4" name="3D blocks of affected buildings" descr="3D blocks of affected buildings">    </p:cNvPr>
          <p:cNvPicPr>
            <a:picLocks noChangeAspect="1"/>
          </p:cNvPicPr>
          <p:nvPr/>
        </p:nvPicPr>
        <p:blipFill>
          <a:blip r:embed="rId2"/>
          <a:stretch>
            <a:fillRect/>
          </a:stretch>
        </p:blipFill>
        <p:spPr>
          <a:xfrm>
            <a:off x="7360920" y="1417320"/>
            <a:ext cx="4480560" cy="3657600"/>
          </a:xfrm>
          <a:prstGeom prst="rect">
            <a:avLst/>
          </a:prstGeom>
        </p:spPr>
      </p:pic>
      <p:sp>
        <p:nvSpPr>
          <p:cNvPr id="5" name="Text 1"/>
          <p:cNvSpPr txBox="1"/>
          <p:nvPr/>
        </p:nvSpPr>
        <p:spPr>
          <a:xfrm>
            <a:off x="548640" y="5212080"/>
            <a:ext cx="6583680" cy="10058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300 mm in 72 h, Chiang Mai: 3,424 buildings and 61.6 km of main road sit in the Moderate-or-higher zone. Each building is a point with a dark ring and white outline so thousands stay readable.</a:t>
            </a:r>
            <a:endParaRPr lang="en-US" sz="1300" dirty="0"/>
          </a:p>
        </p:txBody>
      </p:sp>
      <p:sp>
        <p:nvSpPr>
          <p:cNvPr id="6" name="Text 2"/>
          <p:cNvSpPr txBox="1"/>
          <p:nvPr/>
        </p:nvSpPr>
        <p:spPr>
          <a:xfrm>
            <a:off x="7360920" y="5212080"/>
            <a:ext cx="4480560" cy="109728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Street-level 3D: each affected footprint is raised by its estimated height. A "height exaggeration" control (x1 to x5) makes low rural buildings easier to see.</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5" type="title" hasCustomPrompt="1"/>
          </p:nvPr>
        </p:nvSpPr>
        <p:spPr>
          <a:xfrm>
            <a:off x="548640" y="365760"/>
            <a:ext cx="9509760" cy="868680"/>
          </a:xfrm>
          <a:prstGeom prst="rect">
            <a:avLst/>
          </a:prstGeom>
          <a:noFill/>
          <a:ln/>
        </p:spPr>
        <p:txBody>
          <a:bodyPr wrap="square" lIns="0" tIns="0" rIns="0" bIns="0" rtlCol="0" anchor="t"/>
          <a:lstStyle/>
          <a:p>
            <a:pPr algn="l" indent="0" marL="0">
              <a:buNone/>
            </a:pPr>
            <a:r>
              <a:rPr lang="en-US" sz="3000" b="1" dirty="0">
                <a:solidFill>
                  <a:schemeClr val="bg1"/>
                </a:solidFill>
                <a:latin typeface="Georgia" pitchFamily="34" charset="0"/>
                <a:ea typeface="Georgia" pitchFamily="34" charset="-122"/>
                <a:cs typeface="Georgia" pitchFamily="34" charset="-120"/>
              </a:rPr>
              <a:t>Every number is calculated, never written by the model</a:t>
            </a:r>
            <a:endParaRPr lang="en-US" sz="3000" dirty="0"/>
          </a:p>
        </p:txBody>
      </p:sp>
      <p:sp>
        <p:nvSpPr>
          <p:cNvPr id="3" name="formula card"/>
          <p:cNvSpPr/>
          <p:nvPr/>
        </p:nvSpPr>
        <p:spPr>
          <a:xfrm>
            <a:off x="548640" y="1417320"/>
            <a:ext cx="11109960" cy="1051560"/>
          </a:xfrm>
          <a:prstGeom prst="roundRect">
            <a:avLst>
              <a:gd name="adj" fmla="val 6957"/>
            </a:avLst>
          </a:prstGeom>
          <a:solidFill>
            <a:schemeClr val="tx2"/>
          </a:solidFill>
          <a:ln w="9525">
            <a:solidFill>
              <a:schemeClr val="tx2"/>
            </a:solidFill>
            <a:prstDash val="solid"/>
          </a:ln>
        </p:spPr>
      </p:sp>
      <p:sp>
        <p:nvSpPr>
          <p:cNvPr id="4" name="Text 2"/>
          <p:cNvSpPr txBox="1"/>
          <p:nvPr/>
        </p:nvSpPr>
        <p:spPr>
          <a:xfrm>
            <a:off x="548640" y="1417320"/>
            <a:ext cx="11109960" cy="1051560"/>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risk  =  trigger  ×  susceptibility  ×  vulnerability  ×  exposure  ÷  125</a:t>
            </a:r>
            <a:endParaRPr lang="en-US" sz="2400" dirty="0"/>
          </a:p>
        </p:txBody>
      </p:sp>
      <p:sp>
        <p:nvSpPr>
          <p:cNvPr id="5" name="factor card 1"/>
          <p:cNvSpPr/>
          <p:nvPr/>
        </p:nvSpPr>
        <p:spPr>
          <a:xfrm>
            <a:off x="548640" y="2743200"/>
            <a:ext cx="2697480" cy="2377440"/>
          </a:xfrm>
          <a:prstGeom prst="roundRect">
            <a:avLst>
              <a:gd name="adj" fmla="val 3077"/>
            </a:avLst>
          </a:prstGeom>
          <a:solidFill>
            <a:srgbClr val="3A2619"/>
          </a:solidFill>
          <a:ln w="9525">
            <a:solidFill>
              <a:srgbClr val="5A4030"/>
            </a:solidFill>
            <a:prstDash val="solid"/>
          </a:ln>
        </p:spPr>
      </p:sp>
      <p:sp>
        <p:nvSpPr>
          <p:cNvPr id="6" name="factor dot 1"/>
          <p:cNvSpPr/>
          <p:nvPr/>
        </p:nvSpPr>
        <p:spPr>
          <a:xfrm>
            <a:off x="777240" y="2926080"/>
            <a:ext cx="292608" cy="292608"/>
          </a:xfrm>
          <a:prstGeom prst="ellipse">
            <a:avLst/>
          </a:prstGeom>
          <a:solidFill>
            <a:srgbClr val="E8772E"/>
          </a:solidFill>
          <a:ln w="12700">
            <a:solidFill>
              <a:srgbClr val="E8772E"/>
            </a:solidFill>
            <a:prstDash val="solid"/>
          </a:ln>
        </p:spPr>
      </p:sp>
      <p:sp>
        <p:nvSpPr>
          <p:cNvPr id="7" name="Text 5"/>
          <p:cNvSpPr txBox="1"/>
          <p:nvPr/>
        </p:nvSpPr>
        <p:spPr>
          <a:xfrm>
            <a:off x="1188720" y="2926080"/>
            <a:ext cx="1920240" cy="320040"/>
          </a:xfrm>
          <a:prstGeom prst="rect">
            <a:avLst/>
          </a:prstGeom>
          <a:noFill/>
          <a:ln/>
        </p:spPr>
        <p:txBody>
          <a:bodyPr wrap="square" lIns="0" tIns="0" rIns="0" bIns="0" rtlCol="0" anchor="ctr"/>
          <a:lstStyle/>
          <a:p>
            <a:pPr indent="0" marL="0">
              <a:buNone/>
            </a:pPr>
            <a:r>
              <a:rPr lang="en-US" sz="1800" b="1" dirty="0">
                <a:solidFill>
                  <a:schemeClr val="bg1"/>
                </a:solidFill>
                <a:latin typeface="Georgia" pitchFamily="34" charset="0"/>
                <a:ea typeface="Georgia" pitchFamily="34" charset="-122"/>
                <a:cs typeface="Georgia" pitchFamily="34" charset="-120"/>
              </a:rPr>
              <a:t>Trigger</a:t>
            </a:r>
            <a:endParaRPr lang="en-US" sz="1800" dirty="0"/>
          </a:p>
        </p:txBody>
      </p:sp>
      <p:sp>
        <p:nvSpPr>
          <p:cNvPr id="8" name="Text 6"/>
          <p:cNvSpPr txBox="1"/>
          <p:nvPr/>
        </p:nvSpPr>
        <p:spPr>
          <a:xfrm>
            <a:off x="777240" y="3429000"/>
            <a:ext cx="2286000" cy="164592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A tambon's 30 days of rain (observed satellite rain plus the GFS forecast, or the what-if amount) against that tambon's own rainfall thresholds.</a:t>
            </a:r>
            <a:endParaRPr lang="en-US" sz="1400" dirty="0"/>
          </a:p>
        </p:txBody>
      </p:sp>
      <p:sp>
        <p:nvSpPr>
          <p:cNvPr id="9" name="factor card 2"/>
          <p:cNvSpPr/>
          <p:nvPr/>
        </p:nvSpPr>
        <p:spPr>
          <a:xfrm>
            <a:off x="3383280" y="2743200"/>
            <a:ext cx="2697480" cy="2377440"/>
          </a:xfrm>
          <a:prstGeom prst="roundRect">
            <a:avLst>
              <a:gd name="adj" fmla="val 3077"/>
            </a:avLst>
          </a:prstGeom>
          <a:solidFill>
            <a:srgbClr val="3A2619"/>
          </a:solidFill>
          <a:ln w="9525">
            <a:solidFill>
              <a:srgbClr val="5A4030"/>
            </a:solidFill>
            <a:prstDash val="solid"/>
          </a:ln>
        </p:spPr>
      </p:sp>
      <p:sp>
        <p:nvSpPr>
          <p:cNvPr id="10" name="factor dot 2"/>
          <p:cNvSpPr/>
          <p:nvPr/>
        </p:nvSpPr>
        <p:spPr>
          <a:xfrm>
            <a:off x="3611880" y="2926080"/>
            <a:ext cx="292608" cy="292608"/>
          </a:xfrm>
          <a:prstGeom prst="ellipse">
            <a:avLst/>
          </a:prstGeom>
          <a:solidFill>
            <a:srgbClr val="F2B134"/>
          </a:solidFill>
          <a:ln w="12700">
            <a:solidFill>
              <a:srgbClr val="F2B134"/>
            </a:solidFill>
            <a:prstDash val="solid"/>
          </a:ln>
        </p:spPr>
      </p:sp>
      <p:sp>
        <p:nvSpPr>
          <p:cNvPr id="11" name="Text 9"/>
          <p:cNvSpPr txBox="1"/>
          <p:nvPr/>
        </p:nvSpPr>
        <p:spPr>
          <a:xfrm>
            <a:off x="4023360" y="2926080"/>
            <a:ext cx="1920240" cy="320040"/>
          </a:xfrm>
          <a:prstGeom prst="rect">
            <a:avLst/>
          </a:prstGeom>
          <a:noFill/>
          <a:ln/>
        </p:spPr>
        <p:txBody>
          <a:bodyPr wrap="square" lIns="0" tIns="0" rIns="0" bIns="0" rtlCol="0" anchor="ctr"/>
          <a:lstStyle/>
          <a:p>
            <a:pPr indent="0" marL="0">
              <a:buNone/>
            </a:pPr>
            <a:r>
              <a:rPr lang="en-US" sz="1800" b="1" dirty="0">
                <a:solidFill>
                  <a:schemeClr val="bg1"/>
                </a:solidFill>
                <a:latin typeface="Georgia" pitchFamily="34" charset="0"/>
                <a:ea typeface="Georgia" pitchFamily="34" charset="-122"/>
                <a:cs typeface="Georgia" pitchFamily="34" charset="-120"/>
              </a:rPr>
              <a:t>Susceptibility</a:t>
            </a:r>
            <a:endParaRPr lang="en-US" sz="1800" dirty="0"/>
          </a:p>
        </p:txBody>
      </p:sp>
      <p:sp>
        <p:nvSpPr>
          <p:cNvPr id="12" name="Text 10"/>
          <p:cNvSpPr txBox="1"/>
          <p:nvPr/>
        </p:nvSpPr>
        <p:spPr>
          <a:xfrm>
            <a:off x="3611880" y="3429000"/>
            <a:ext cx="2286000" cy="164592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A landslide susceptibility map at 12 m, classed 1 to 5.</a:t>
            </a:r>
            <a:endParaRPr lang="en-US" sz="1400" dirty="0"/>
          </a:p>
        </p:txBody>
      </p:sp>
      <p:sp>
        <p:nvSpPr>
          <p:cNvPr id="13" name="factor card 3"/>
          <p:cNvSpPr/>
          <p:nvPr/>
        </p:nvSpPr>
        <p:spPr>
          <a:xfrm>
            <a:off x="6217920" y="2743200"/>
            <a:ext cx="2697480" cy="2377440"/>
          </a:xfrm>
          <a:prstGeom prst="roundRect">
            <a:avLst>
              <a:gd name="adj" fmla="val 3077"/>
            </a:avLst>
          </a:prstGeom>
          <a:solidFill>
            <a:srgbClr val="3A2619"/>
          </a:solidFill>
          <a:ln w="9525">
            <a:solidFill>
              <a:srgbClr val="5A4030"/>
            </a:solidFill>
            <a:prstDash val="solid"/>
          </a:ln>
        </p:spPr>
      </p:sp>
      <p:sp>
        <p:nvSpPr>
          <p:cNvPr id="14" name="factor dot 3"/>
          <p:cNvSpPr/>
          <p:nvPr/>
        </p:nvSpPr>
        <p:spPr>
          <a:xfrm>
            <a:off x="6446520" y="2926080"/>
            <a:ext cx="292608" cy="292608"/>
          </a:xfrm>
          <a:prstGeom prst="ellipse">
            <a:avLst/>
          </a:prstGeom>
          <a:solidFill>
            <a:srgbClr val="3B6EA5"/>
          </a:solidFill>
          <a:ln w="12700">
            <a:solidFill>
              <a:srgbClr val="3B6EA5"/>
            </a:solidFill>
            <a:prstDash val="solid"/>
          </a:ln>
        </p:spPr>
      </p:sp>
      <p:sp>
        <p:nvSpPr>
          <p:cNvPr id="15" name="Text 13"/>
          <p:cNvSpPr txBox="1"/>
          <p:nvPr/>
        </p:nvSpPr>
        <p:spPr>
          <a:xfrm>
            <a:off x="6858000" y="2926080"/>
            <a:ext cx="1920240" cy="320040"/>
          </a:xfrm>
          <a:prstGeom prst="rect">
            <a:avLst/>
          </a:prstGeom>
          <a:noFill/>
          <a:ln/>
        </p:spPr>
        <p:txBody>
          <a:bodyPr wrap="square" lIns="0" tIns="0" rIns="0" bIns="0" rtlCol="0" anchor="ctr"/>
          <a:lstStyle/>
          <a:p>
            <a:pPr indent="0" marL="0">
              <a:buNone/>
            </a:pPr>
            <a:r>
              <a:rPr lang="en-US" sz="1800" b="1" dirty="0">
                <a:solidFill>
                  <a:schemeClr val="bg1"/>
                </a:solidFill>
                <a:latin typeface="Georgia" pitchFamily="34" charset="0"/>
                <a:ea typeface="Georgia" pitchFamily="34" charset="-122"/>
                <a:cs typeface="Georgia" pitchFamily="34" charset="-120"/>
              </a:rPr>
              <a:t>Vulnerability</a:t>
            </a:r>
            <a:endParaRPr lang="en-US" sz="1800" dirty="0"/>
          </a:p>
        </p:txBody>
      </p:sp>
      <p:sp>
        <p:nvSpPr>
          <p:cNvPr id="16" name="Text 14"/>
          <p:cNvSpPr txBox="1"/>
          <p:nvPr/>
        </p:nvSpPr>
        <p:spPr>
          <a:xfrm>
            <a:off x="6446520" y="3429000"/>
            <a:ext cx="2286000" cy="164592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A national vulnerability index, classed 1 to 5.</a:t>
            </a:r>
            <a:endParaRPr lang="en-US" sz="1400" dirty="0"/>
          </a:p>
        </p:txBody>
      </p:sp>
      <p:sp>
        <p:nvSpPr>
          <p:cNvPr id="17" name="factor card 4"/>
          <p:cNvSpPr/>
          <p:nvPr/>
        </p:nvSpPr>
        <p:spPr>
          <a:xfrm>
            <a:off x="9052560" y="2743200"/>
            <a:ext cx="2697480" cy="2377440"/>
          </a:xfrm>
          <a:prstGeom prst="roundRect">
            <a:avLst>
              <a:gd name="adj" fmla="val 3077"/>
            </a:avLst>
          </a:prstGeom>
          <a:solidFill>
            <a:srgbClr val="3A2619"/>
          </a:solidFill>
          <a:ln w="9525">
            <a:solidFill>
              <a:srgbClr val="5A4030"/>
            </a:solidFill>
            <a:prstDash val="solid"/>
          </a:ln>
        </p:spPr>
      </p:sp>
      <p:sp>
        <p:nvSpPr>
          <p:cNvPr id="18" name="factor dot 4"/>
          <p:cNvSpPr/>
          <p:nvPr/>
        </p:nvSpPr>
        <p:spPr>
          <a:xfrm>
            <a:off x="9281160" y="2926080"/>
            <a:ext cx="292608" cy="292608"/>
          </a:xfrm>
          <a:prstGeom prst="ellipse">
            <a:avLst/>
          </a:prstGeom>
          <a:solidFill>
            <a:srgbClr val="2E7D5B"/>
          </a:solidFill>
          <a:ln w="12700">
            <a:solidFill>
              <a:srgbClr val="2E7D5B"/>
            </a:solidFill>
            <a:prstDash val="solid"/>
          </a:ln>
        </p:spPr>
      </p:sp>
      <p:sp>
        <p:nvSpPr>
          <p:cNvPr id="19" name="Text 17"/>
          <p:cNvSpPr txBox="1"/>
          <p:nvPr/>
        </p:nvSpPr>
        <p:spPr>
          <a:xfrm>
            <a:off x="9692640" y="2926080"/>
            <a:ext cx="1920240" cy="320040"/>
          </a:xfrm>
          <a:prstGeom prst="rect">
            <a:avLst/>
          </a:prstGeom>
          <a:noFill/>
          <a:ln/>
        </p:spPr>
        <p:txBody>
          <a:bodyPr wrap="square" lIns="0" tIns="0" rIns="0" bIns="0" rtlCol="0" anchor="ctr"/>
          <a:lstStyle/>
          <a:p>
            <a:pPr indent="0" marL="0">
              <a:buNone/>
            </a:pPr>
            <a:r>
              <a:rPr lang="en-US" sz="1800" b="1" dirty="0">
                <a:solidFill>
                  <a:schemeClr val="bg1"/>
                </a:solidFill>
                <a:latin typeface="Georgia" pitchFamily="34" charset="0"/>
                <a:ea typeface="Georgia" pitchFamily="34" charset="-122"/>
                <a:cs typeface="Georgia" pitchFamily="34" charset="-120"/>
              </a:rPr>
              <a:t>Exposure</a:t>
            </a:r>
            <a:endParaRPr lang="en-US" sz="1800" dirty="0"/>
          </a:p>
        </p:txBody>
      </p:sp>
      <p:sp>
        <p:nvSpPr>
          <p:cNvPr id="20" name="Text 18"/>
          <p:cNvSpPr txBox="1"/>
          <p:nvPr/>
        </p:nvSpPr>
        <p:spPr>
          <a:xfrm>
            <a:off x="9281160" y="3429000"/>
            <a:ext cx="2286000" cy="164592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A national exposure index, classed 1 to 5.</a:t>
            </a:r>
            <a:endParaRPr lang="en-US" sz="1400" dirty="0"/>
          </a:p>
        </p:txBody>
      </p:sp>
      <p:sp>
        <p:nvSpPr>
          <p:cNvPr id="21" name="Text 19"/>
          <p:cNvSpPr txBox="1"/>
          <p:nvPr/>
        </p:nvSpPr>
        <p:spPr>
          <a:xfrm>
            <a:off x="548640" y="5303520"/>
            <a:ext cx="11109960" cy="914400"/>
          </a:xfrm>
          <a:prstGeom prst="rect">
            <a:avLst/>
          </a:prstGeom>
          <a:noFill/>
          <a:ln/>
        </p:spPr>
        <p:txBody>
          <a:bodyPr wrap="square" lIns="0" tIns="0" rIns="0" bIns="0" rtlCol="0" anchor="t"/>
          <a:lstStyle/>
          <a:p>
            <a:pPr indent="0" marL="0">
              <a:buNone/>
            </a:pPr>
            <a:r>
              <a:rPr lang="en-US" sz="1200" dirty="0">
                <a:solidFill>
                  <a:schemeClr val="bg2"/>
                </a:solidFill>
                <a:latin typeface="Arial" pitchFamily="34" charset="0"/>
                <a:ea typeface="Arial" pitchFamily="34" charset="-122"/>
                <a:cs typeface="Arial" pitchFamily="34" charset="-120"/>
              </a:rPr>
              <a:t>Data: JAXA GSMaP and NOAA GFS rainfall · ADPC susceptibility, vulnerability and exposure layers through Google Earth Engine · WorldPop 2020 · GHSL built-up area · Google Open Buildings · OpenStreetMap. A tambon counts as landslide-prone only with at least 1 km² and 2% susceptible ground, so flat cities show no false risk.</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6"/>
          <p:cNvSpPr/>
          <p:nvPr>
            <p:ph idx="106" type="title" hasCustomPrompt="1"/>
          </p:nvPr>
        </p:nvSpPr>
        <p:spPr>
          <a:xfrm>
            <a:off x="548640" y="365760"/>
            <a:ext cx="9509760" cy="868680"/>
          </a:xfrm>
          <a:prstGeom prst="rect">
            <a:avLst/>
          </a:prstGeom>
          <a:noFill/>
          <a:ln/>
        </p:spPr>
        <p:txBody>
          <a:bodyPr wrap="square" lIns="0" tIns="0" rIns="0" bIns="0" rtlCol="0" anchor="t"/>
          <a:lstStyle/>
          <a:p>
            <a:pPr algn="l" indent="0" marL="0">
              <a:buNone/>
            </a:pPr>
            <a:r>
              <a:rPr lang="en-US" sz="3000" b="1" dirty="0">
                <a:solidFill>
                  <a:schemeClr val="tx1"/>
                </a:solidFill>
                <a:latin typeface="Georgia" pitchFamily="34" charset="0"/>
                <a:ea typeface="Georgia" pitchFamily="34" charset="-122"/>
                <a:cs typeface="Georgia" pitchFamily="34" charset="-120"/>
              </a:rPr>
              <a:t>Gen AI at the core: an agent that calls tools and never invents figures</a:t>
            </a:r>
            <a:endParaRPr lang="en-US" sz="3000" dirty="0"/>
          </a:p>
        </p:txBody>
      </p:sp>
      <p:sp>
        <p:nvSpPr>
          <p:cNvPr id="3" name="flow box 1"/>
          <p:cNvSpPr/>
          <p:nvPr/>
        </p:nvSpPr>
        <p:spPr>
          <a:xfrm>
            <a:off x="548640" y="1463040"/>
            <a:ext cx="2011680" cy="1417320"/>
          </a:xfrm>
          <a:prstGeom prst="roundRect">
            <a:avLst>
              <a:gd name="adj" fmla="val 5161"/>
            </a:avLst>
          </a:prstGeom>
          <a:solidFill>
            <a:srgbClr val="6B3F24"/>
          </a:solidFill>
          <a:ln w="12700">
            <a:solidFill>
              <a:srgbClr val="6B3F24"/>
            </a:solidFill>
            <a:prstDash val="solid"/>
          </a:ln>
        </p:spPr>
      </p:sp>
      <p:sp>
        <p:nvSpPr>
          <p:cNvPr id="4" name="Text 2"/>
          <p:cNvSpPr txBox="1"/>
          <p:nvPr/>
        </p:nvSpPr>
        <p:spPr>
          <a:xfrm>
            <a:off x="658368" y="1572768"/>
            <a:ext cx="1792224"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Georgia" pitchFamily="34" charset="0"/>
                <a:ea typeface="Georgia" pitchFamily="34" charset="-122"/>
                <a:cs typeface="Georgia" pitchFamily="34" charset="-120"/>
              </a:rPr>
              <a:t>Question</a:t>
            </a:r>
            <a:endParaRPr lang="en-US" sz="1500" dirty="0"/>
          </a:p>
        </p:txBody>
      </p:sp>
      <p:sp>
        <p:nvSpPr>
          <p:cNvPr id="5" name="Text 3"/>
          <p:cNvSpPr txBox="1"/>
          <p:nvPr/>
        </p:nvSpPr>
        <p:spPr>
          <a:xfrm>
            <a:off x="658368" y="2103120"/>
            <a:ext cx="1792224" cy="731520"/>
          </a:xfrm>
          <a:prstGeom prst="rect">
            <a:avLst/>
          </a:prstGeom>
          <a:noFill/>
          <a:ln/>
        </p:spPr>
        <p:txBody>
          <a:bodyPr wrap="square" lIns="0" tIns="0" rIns="0" bIns="0" rtlCol="0" anchor="t"/>
          <a:lstStyle/>
          <a:p>
            <a:pPr algn="ctr" indent="0" marL="0">
              <a:buNone/>
            </a:pPr>
            <a:r>
              <a:rPr lang="en-US" sz="1100" dirty="0">
                <a:solidFill>
                  <a:schemeClr val="bg1"/>
                </a:solidFill>
                <a:latin typeface="Arial" pitchFamily="34" charset="0"/>
                <a:ea typeface="Arial" pitchFamily="34" charset="-122"/>
                <a:cs typeface="Arial" pitchFamily="34" charset="-120"/>
              </a:rPr>
              <a:t>English or Thai</a:t>
            </a:r>
            <a:endParaRPr lang="en-US" sz="1100" dirty="0"/>
          </a:p>
        </p:txBody>
      </p:sp>
      <p:sp>
        <p:nvSpPr>
          <p:cNvPr id="6" name="flow arrow 1"/>
          <p:cNvSpPr/>
          <p:nvPr/>
        </p:nvSpPr>
        <p:spPr>
          <a:xfrm>
            <a:off x="2587752" y="2011680"/>
            <a:ext cx="228600" cy="320040"/>
          </a:xfrm>
          <a:prstGeom prst="rightArrow">
            <a:avLst/>
          </a:prstGeom>
          <a:solidFill>
            <a:schemeClr val="accent6"/>
          </a:solidFill>
          <a:ln w="12700">
            <a:solidFill>
              <a:schemeClr val="accent6"/>
            </a:solidFill>
            <a:prstDash val="solid"/>
          </a:ln>
        </p:spPr>
      </p:sp>
      <p:sp>
        <p:nvSpPr>
          <p:cNvPr id="7" name="flow box 2"/>
          <p:cNvSpPr/>
          <p:nvPr/>
        </p:nvSpPr>
        <p:spPr>
          <a:xfrm>
            <a:off x="2834640" y="1463040"/>
            <a:ext cx="2011680" cy="1417320"/>
          </a:xfrm>
          <a:prstGeom prst="roundRect">
            <a:avLst>
              <a:gd name="adj" fmla="val 5161"/>
            </a:avLst>
          </a:prstGeom>
          <a:solidFill>
            <a:srgbClr val="E8772E"/>
          </a:solidFill>
          <a:ln w="12700">
            <a:solidFill>
              <a:srgbClr val="E8772E"/>
            </a:solidFill>
            <a:prstDash val="solid"/>
          </a:ln>
        </p:spPr>
      </p:sp>
      <p:sp>
        <p:nvSpPr>
          <p:cNvPr id="8" name="Text 6"/>
          <p:cNvSpPr txBox="1"/>
          <p:nvPr/>
        </p:nvSpPr>
        <p:spPr>
          <a:xfrm>
            <a:off x="2944368" y="1572768"/>
            <a:ext cx="1792224"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Georgia" pitchFamily="34" charset="0"/>
                <a:ea typeface="Georgia" pitchFamily="34" charset="-122"/>
                <a:cs typeface="Georgia" pitchFamily="34" charset="-120"/>
              </a:rPr>
              <a:t>Gemini agent</a:t>
            </a:r>
            <a:endParaRPr lang="en-US" sz="1500" dirty="0"/>
          </a:p>
        </p:txBody>
      </p:sp>
      <p:sp>
        <p:nvSpPr>
          <p:cNvPr id="9" name="Text 7"/>
          <p:cNvSpPr txBox="1"/>
          <p:nvPr/>
        </p:nvSpPr>
        <p:spPr>
          <a:xfrm>
            <a:off x="2944368" y="2103120"/>
            <a:ext cx="1792224" cy="731520"/>
          </a:xfrm>
          <a:prstGeom prst="rect">
            <a:avLst/>
          </a:prstGeom>
          <a:noFill/>
          <a:ln/>
        </p:spPr>
        <p:txBody>
          <a:bodyPr wrap="square" lIns="0" tIns="0" rIns="0" bIns="0" rtlCol="0" anchor="t"/>
          <a:lstStyle/>
          <a:p>
            <a:pPr algn="ctr" indent="0" marL="0">
              <a:buNone/>
            </a:pPr>
            <a:r>
              <a:rPr lang="en-US" sz="1100" dirty="0">
                <a:solidFill>
                  <a:schemeClr val="bg1"/>
                </a:solidFill>
                <a:latin typeface="Arial" pitchFamily="34" charset="0"/>
                <a:ea typeface="Arial" pitchFamily="34" charset="-122"/>
                <a:cs typeface="Arial" pitchFamily="34" charset="-120"/>
              </a:rPr>
              <a:t>Vertex AI · Agent Development Kit</a:t>
            </a:r>
            <a:endParaRPr lang="en-US" sz="1100" dirty="0"/>
          </a:p>
        </p:txBody>
      </p:sp>
      <p:sp>
        <p:nvSpPr>
          <p:cNvPr id="10" name="flow arrow 2"/>
          <p:cNvSpPr/>
          <p:nvPr/>
        </p:nvSpPr>
        <p:spPr>
          <a:xfrm>
            <a:off x="4873752" y="2011680"/>
            <a:ext cx="228600" cy="320040"/>
          </a:xfrm>
          <a:prstGeom prst="rightArrow">
            <a:avLst/>
          </a:prstGeom>
          <a:solidFill>
            <a:schemeClr val="accent6"/>
          </a:solidFill>
          <a:ln w="12700">
            <a:solidFill>
              <a:schemeClr val="accent6"/>
            </a:solidFill>
            <a:prstDash val="solid"/>
          </a:ln>
        </p:spPr>
      </p:sp>
      <p:sp>
        <p:nvSpPr>
          <p:cNvPr id="11" name="flow box 3"/>
          <p:cNvSpPr/>
          <p:nvPr/>
        </p:nvSpPr>
        <p:spPr>
          <a:xfrm>
            <a:off x="5120640" y="1463040"/>
            <a:ext cx="2011680" cy="1417320"/>
          </a:xfrm>
          <a:prstGeom prst="roundRect">
            <a:avLst>
              <a:gd name="adj" fmla="val 5161"/>
            </a:avLst>
          </a:prstGeom>
          <a:solidFill>
            <a:srgbClr val="3B6EA5"/>
          </a:solidFill>
          <a:ln w="12700">
            <a:solidFill>
              <a:srgbClr val="3B6EA5"/>
            </a:solidFill>
            <a:prstDash val="solid"/>
          </a:ln>
        </p:spPr>
      </p:sp>
      <p:sp>
        <p:nvSpPr>
          <p:cNvPr id="12" name="Text 10"/>
          <p:cNvSpPr txBox="1"/>
          <p:nvPr/>
        </p:nvSpPr>
        <p:spPr>
          <a:xfrm>
            <a:off x="5230368" y="1572768"/>
            <a:ext cx="1792224"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Georgia" pitchFamily="34" charset="0"/>
                <a:ea typeface="Georgia" pitchFamily="34" charset="-122"/>
                <a:cs typeface="Georgia" pitchFamily="34" charset="-120"/>
              </a:rPr>
              <a:t>10 tools</a:t>
            </a:r>
            <a:endParaRPr lang="en-US" sz="1500" dirty="0"/>
          </a:p>
        </p:txBody>
      </p:sp>
      <p:sp>
        <p:nvSpPr>
          <p:cNvPr id="13" name="Text 11"/>
          <p:cNvSpPr txBox="1"/>
          <p:nvPr/>
        </p:nvSpPr>
        <p:spPr>
          <a:xfrm>
            <a:off x="5230368" y="2103120"/>
            <a:ext cx="1792224" cy="731520"/>
          </a:xfrm>
          <a:prstGeom prst="rect">
            <a:avLst/>
          </a:prstGeom>
          <a:noFill/>
          <a:ln/>
        </p:spPr>
        <p:txBody>
          <a:bodyPr wrap="square" lIns="0" tIns="0" rIns="0" bIns="0" rtlCol="0" anchor="t"/>
          <a:lstStyle/>
          <a:p>
            <a:pPr algn="ctr" indent="0" marL="0">
              <a:buNone/>
            </a:pPr>
            <a:r>
              <a:rPr lang="en-US" sz="1100" dirty="0">
                <a:solidFill>
                  <a:schemeClr val="bg1"/>
                </a:solidFill>
                <a:latin typeface="Arial" pitchFamily="34" charset="0"/>
                <a:ea typeface="Arial" pitchFamily="34" charset="-122"/>
                <a:cs typeface="Arial" pitchFamily="34" charset="-120"/>
              </a:rPr>
              <a:t>scenario, forecast, rankings, exposure, explain a point, briefing</a:t>
            </a:r>
            <a:endParaRPr lang="en-US" sz="1100" dirty="0"/>
          </a:p>
        </p:txBody>
      </p:sp>
      <p:sp>
        <p:nvSpPr>
          <p:cNvPr id="14" name="flow arrow 3"/>
          <p:cNvSpPr/>
          <p:nvPr/>
        </p:nvSpPr>
        <p:spPr>
          <a:xfrm>
            <a:off x="7159752" y="2011680"/>
            <a:ext cx="228600" cy="320040"/>
          </a:xfrm>
          <a:prstGeom prst="rightArrow">
            <a:avLst/>
          </a:prstGeom>
          <a:solidFill>
            <a:schemeClr val="accent6"/>
          </a:solidFill>
          <a:ln w="12700">
            <a:solidFill>
              <a:schemeClr val="accent6"/>
            </a:solidFill>
            <a:prstDash val="solid"/>
          </a:ln>
        </p:spPr>
      </p:sp>
      <p:sp>
        <p:nvSpPr>
          <p:cNvPr id="15" name="flow box 4"/>
          <p:cNvSpPr/>
          <p:nvPr/>
        </p:nvSpPr>
        <p:spPr>
          <a:xfrm>
            <a:off x="7406640" y="1463040"/>
            <a:ext cx="2011680" cy="1417320"/>
          </a:xfrm>
          <a:prstGeom prst="roundRect">
            <a:avLst>
              <a:gd name="adj" fmla="val 5161"/>
            </a:avLst>
          </a:prstGeom>
          <a:solidFill>
            <a:srgbClr val="2E7D5B"/>
          </a:solidFill>
          <a:ln w="12700">
            <a:solidFill>
              <a:srgbClr val="2E7D5B"/>
            </a:solidFill>
            <a:prstDash val="solid"/>
          </a:ln>
        </p:spPr>
      </p:sp>
      <p:sp>
        <p:nvSpPr>
          <p:cNvPr id="16" name="Text 14"/>
          <p:cNvSpPr txBox="1"/>
          <p:nvPr/>
        </p:nvSpPr>
        <p:spPr>
          <a:xfrm>
            <a:off x="7516368" y="1572768"/>
            <a:ext cx="1792224"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Georgia" pitchFamily="34" charset="0"/>
                <a:ea typeface="Georgia" pitchFamily="34" charset="-122"/>
                <a:cs typeface="Georgia" pitchFamily="34" charset="-120"/>
              </a:rPr>
              <a:t>Computed data</a:t>
            </a:r>
            <a:endParaRPr lang="en-US" sz="1500" dirty="0"/>
          </a:p>
        </p:txBody>
      </p:sp>
      <p:sp>
        <p:nvSpPr>
          <p:cNvPr id="17" name="Text 15"/>
          <p:cNvSpPr txBox="1"/>
          <p:nvPr/>
        </p:nvSpPr>
        <p:spPr>
          <a:xfrm>
            <a:off x="7516368" y="2103120"/>
            <a:ext cx="1792224" cy="731520"/>
          </a:xfrm>
          <a:prstGeom prst="rect">
            <a:avLst/>
          </a:prstGeom>
          <a:noFill/>
          <a:ln/>
        </p:spPr>
        <p:txBody>
          <a:bodyPr wrap="square" lIns="0" tIns="0" rIns="0" bIns="0" rtlCol="0" anchor="t"/>
          <a:lstStyle/>
          <a:p>
            <a:pPr algn="ctr" indent="0" marL="0">
              <a:buNone/>
            </a:pPr>
            <a:r>
              <a:rPr lang="en-US" sz="1100" dirty="0">
                <a:solidFill>
                  <a:schemeClr val="bg1"/>
                </a:solidFill>
                <a:latin typeface="Arial" pitchFamily="34" charset="0"/>
                <a:ea typeface="Arial" pitchFamily="34" charset="-122"/>
                <a:cs typeface="Arial" pitchFamily="34" charset="-120"/>
              </a:rPr>
              <a:t>daily files and Earth Engine</a:t>
            </a:r>
            <a:endParaRPr lang="en-US" sz="1100" dirty="0"/>
          </a:p>
        </p:txBody>
      </p:sp>
      <p:sp>
        <p:nvSpPr>
          <p:cNvPr id="18" name="flow arrow 4"/>
          <p:cNvSpPr/>
          <p:nvPr/>
        </p:nvSpPr>
        <p:spPr>
          <a:xfrm>
            <a:off x="9445752" y="2011680"/>
            <a:ext cx="228600" cy="320040"/>
          </a:xfrm>
          <a:prstGeom prst="rightArrow">
            <a:avLst/>
          </a:prstGeom>
          <a:solidFill>
            <a:schemeClr val="accent6"/>
          </a:solidFill>
          <a:ln w="12700">
            <a:solidFill>
              <a:schemeClr val="accent6"/>
            </a:solidFill>
            <a:prstDash val="solid"/>
          </a:ln>
        </p:spPr>
      </p:sp>
      <p:sp>
        <p:nvSpPr>
          <p:cNvPr id="19" name="flow box 5"/>
          <p:cNvSpPr/>
          <p:nvPr/>
        </p:nvSpPr>
        <p:spPr>
          <a:xfrm>
            <a:off x="9692640" y="1463040"/>
            <a:ext cx="2011680" cy="1417320"/>
          </a:xfrm>
          <a:prstGeom prst="roundRect">
            <a:avLst>
              <a:gd name="adj" fmla="val 5161"/>
            </a:avLst>
          </a:prstGeom>
          <a:solidFill>
            <a:srgbClr val="6B3F24"/>
          </a:solidFill>
          <a:ln w="12700">
            <a:solidFill>
              <a:srgbClr val="6B3F24"/>
            </a:solidFill>
            <a:prstDash val="solid"/>
          </a:ln>
        </p:spPr>
      </p:sp>
      <p:sp>
        <p:nvSpPr>
          <p:cNvPr id="20" name="Text 18"/>
          <p:cNvSpPr txBox="1"/>
          <p:nvPr/>
        </p:nvSpPr>
        <p:spPr>
          <a:xfrm>
            <a:off x="9802368" y="1572768"/>
            <a:ext cx="1792224"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Georgia" pitchFamily="34" charset="0"/>
                <a:ea typeface="Georgia" pitchFamily="34" charset="-122"/>
                <a:cs typeface="Georgia" pitchFamily="34" charset="-120"/>
              </a:rPr>
              <a:t>Answer</a:t>
            </a:r>
            <a:endParaRPr lang="en-US" sz="1500" dirty="0"/>
          </a:p>
        </p:txBody>
      </p:sp>
      <p:sp>
        <p:nvSpPr>
          <p:cNvPr id="21" name="Text 19"/>
          <p:cNvSpPr txBox="1"/>
          <p:nvPr/>
        </p:nvSpPr>
        <p:spPr>
          <a:xfrm>
            <a:off x="9802368" y="2103120"/>
            <a:ext cx="1792224" cy="731520"/>
          </a:xfrm>
          <a:prstGeom prst="rect">
            <a:avLst/>
          </a:prstGeom>
          <a:noFill/>
          <a:ln/>
        </p:spPr>
        <p:txBody>
          <a:bodyPr wrap="square" lIns="0" tIns="0" rIns="0" bIns="0" rtlCol="0" anchor="t"/>
          <a:lstStyle/>
          <a:p>
            <a:pPr algn="ctr" indent="0" marL="0">
              <a:buNone/>
            </a:pPr>
            <a:r>
              <a:rPr lang="en-US" sz="1100" dirty="0">
                <a:solidFill>
                  <a:schemeClr val="bg1"/>
                </a:solidFill>
                <a:latin typeface="Arial" pitchFamily="34" charset="0"/>
                <a:ea typeface="Arial" pitchFamily="34" charset="-122"/>
                <a:cs typeface="Arial" pitchFamily="34" charset="-120"/>
              </a:rPr>
              <a:t>table, map, short text</a:t>
            </a:r>
            <a:endParaRPr lang="en-US" sz="1100" dirty="0"/>
          </a:p>
        </p:txBody>
      </p:sp>
      <p:sp>
        <p:nvSpPr>
          <p:cNvPr id="22" name="The model chooses tools; the tools compute badge"/>
          <p:cNvSpPr/>
          <p:nvPr/>
        </p:nvSpPr>
        <p:spPr>
          <a:xfrm>
            <a:off x="548640" y="3246120"/>
            <a:ext cx="548640" cy="548640"/>
          </a:xfrm>
          <a:prstGeom prst="ellipse">
            <a:avLst/>
          </a:prstGeom>
          <a:solidFill>
            <a:srgbClr val="6B3F24"/>
          </a:solidFill>
          <a:ln w="12700">
            <a:solidFill>
              <a:srgbClr val="6B3F24"/>
            </a:solidFill>
            <a:prstDash val="solid"/>
          </a:ln>
        </p:spPr>
      </p:sp>
      <p:pic>
        <p:nvPicPr>
          <p:cNvPr id="23" name="The model chooses tools; the tools compute" descr="The model chooses tools; the tools compute">    </p:cNvPr>
          <p:cNvPicPr>
            <a:picLocks noChangeAspect="1"/>
          </p:cNvPicPr>
          <p:nvPr/>
        </p:nvPicPr>
        <p:blipFill>
          <a:blip r:embed="rId1"/>
          <a:stretch>
            <a:fillRect/>
          </a:stretch>
        </p:blipFill>
        <p:spPr>
          <a:xfrm>
            <a:off x="680314" y="3377794"/>
            <a:ext cx="285293" cy="285293"/>
          </a:xfrm>
          <a:prstGeom prst="rect">
            <a:avLst/>
          </a:prstGeom>
        </p:spPr>
      </p:pic>
      <p:sp>
        <p:nvSpPr>
          <p:cNvPr id="24" name="Text 21"/>
          <p:cNvSpPr txBox="1"/>
          <p:nvPr/>
        </p:nvSpPr>
        <p:spPr>
          <a:xfrm>
            <a:off x="1280160" y="3200400"/>
            <a:ext cx="4754880" cy="320040"/>
          </a:xfrm>
          <a:prstGeom prst="rect">
            <a:avLst/>
          </a:prstGeom>
          <a:noFill/>
          <a:ln/>
        </p:spPr>
        <p:txBody>
          <a:bodyPr wrap="square" lIns="0" tIns="0" rIns="0" bIns="0" rtlCol="0" anchor="t"/>
          <a:lstStyle/>
          <a:p>
            <a:pPr indent="0" marL="0">
              <a:buNone/>
            </a:pPr>
            <a:r>
              <a:rPr lang="en-US" sz="1500" b="1" dirty="0">
                <a:solidFill>
                  <a:schemeClr val="tx2"/>
                </a:solidFill>
                <a:latin typeface="Georgia" pitchFamily="34" charset="0"/>
                <a:ea typeface="Georgia" pitchFamily="34" charset="-122"/>
                <a:cs typeface="Georgia" pitchFamily="34" charset="-120"/>
              </a:rPr>
              <a:t>The model chooses tools; the tools compute</a:t>
            </a:r>
            <a:endParaRPr lang="en-US" sz="1500" dirty="0"/>
          </a:p>
        </p:txBody>
      </p:sp>
      <p:sp>
        <p:nvSpPr>
          <p:cNvPr id="25" name="Text 22"/>
          <p:cNvSpPr txBox="1"/>
          <p:nvPr/>
        </p:nvSpPr>
        <p:spPr>
          <a:xfrm>
            <a:off x="1280160" y="3566160"/>
            <a:ext cx="4754880" cy="114300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Every figure, name and class in an answer comes from a tool result. Ranking and "how many at risk" questions read the daily files directly, and a what-if is run only when the user gives a rainfall amount.</a:t>
            </a:r>
            <a:endParaRPr lang="en-US" sz="1300" dirty="0"/>
          </a:p>
        </p:txBody>
      </p:sp>
      <p:sp>
        <p:nvSpPr>
          <p:cNvPr id="26" name="Follow-ups keep the conversation badge"/>
          <p:cNvSpPr/>
          <p:nvPr/>
        </p:nvSpPr>
        <p:spPr>
          <a:xfrm>
            <a:off x="6217920" y="3246120"/>
            <a:ext cx="548640" cy="548640"/>
          </a:xfrm>
          <a:prstGeom prst="ellipse">
            <a:avLst/>
          </a:prstGeom>
          <a:solidFill>
            <a:srgbClr val="6B3F24"/>
          </a:solidFill>
          <a:ln w="12700">
            <a:solidFill>
              <a:srgbClr val="6B3F24"/>
            </a:solidFill>
            <a:prstDash val="solid"/>
          </a:ln>
        </p:spPr>
      </p:sp>
      <p:pic>
        <p:nvPicPr>
          <p:cNvPr id="27" name="Follow-ups keep the conversation" descr="Follow-ups keep the conversation">    </p:cNvPr>
          <p:cNvPicPr>
            <a:picLocks noChangeAspect="1"/>
          </p:cNvPicPr>
          <p:nvPr/>
        </p:nvPicPr>
        <p:blipFill>
          <a:blip r:embed="rId2"/>
          <a:stretch>
            <a:fillRect/>
          </a:stretch>
        </p:blipFill>
        <p:spPr>
          <a:xfrm>
            <a:off x="6349594" y="3377794"/>
            <a:ext cx="285293" cy="285293"/>
          </a:xfrm>
          <a:prstGeom prst="rect">
            <a:avLst/>
          </a:prstGeom>
        </p:spPr>
      </p:pic>
      <p:sp>
        <p:nvSpPr>
          <p:cNvPr id="28" name="Text 24"/>
          <p:cNvSpPr txBox="1"/>
          <p:nvPr/>
        </p:nvSpPr>
        <p:spPr>
          <a:xfrm>
            <a:off x="6949440" y="3200400"/>
            <a:ext cx="4754880" cy="320040"/>
          </a:xfrm>
          <a:prstGeom prst="rect">
            <a:avLst/>
          </a:prstGeom>
          <a:noFill/>
          <a:ln/>
        </p:spPr>
        <p:txBody>
          <a:bodyPr wrap="square" lIns="0" tIns="0" rIns="0" bIns="0" rtlCol="0" anchor="t"/>
          <a:lstStyle/>
          <a:p>
            <a:pPr indent="0" marL="0">
              <a:buNone/>
            </a:pPr>
            <a:r>
              <a:rPr lang="en-US" sz="1500" b="1" dirty="0">
                <a:solidFill>
                  <a:schemeClr val="tx2"/>
                </a:solidFill>
                <a:latin typeface="Georgia" pitchFamily="34" charset="0"/>
                <a:ea typeface="Georgia" pitchFamily="34" charset="-122"/>
                <a:cs typeface="Georgia" pitchFamily="34" charset="-120"/>
              </a:rPr>
              <a:t>Follow-ups keep the conversation</a:t>
            </a:r>
            <a:endParaRPr lang="en-US" sz="1500" dirty="0"/>
          </a:p>
        </p:txBody>
      </p:sp>
      <p:sp>
        <p:nvSpPr>
          <p:cNvPr id="29" name="Text 25"/>
          <p:cNvSpPr txBox="1"/>
          <p:nvPr/>
        </p:nvSpPr>
        <p:spPr>
          <a:xfrm>
            <a:off x="6949440" y="3566160"/>
            <a:ext cx="4754880" cy="114300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Place, time horizon and risk class carry over. A repeated place name such as "Bang Phra" gets one clarifying question instead of a guess.</a:t>
            </a:r>
            <a:endParaRPr lang="en-US" sz="1300" dirty="0"/>
          </a:p>
        </p:txBody>
      </p:sp>
      <p:sp>
        <p:nvSpPr>
          <p:cNvPr id="30" name="Gemini also reads photos badge"/>
          <p:cNvSpPr/>
          <p:nvPr/>
        </p:nvSpPr>
        <p:spPr>
          <a:xfrm>
            <a:off x="548640" y="4800600"/>
            <a:ext cx="548640" cy="548640"/>
          </a:xfrm>
          <a:prstGeom prst="ellipse">
            <a:avLst/>
          </a:prstGeom>
          <a:solidFill>
            <a:srgbClr val="6B3F24"/>
          </a:solidFill>
          <a:ln w="12700">
            <a:solidFill>
              <a:srgbClr val="6B3F24"/>
            </a:solidFill>
            <a:prstDash val="solid"/>
          </a:ln>
        </p:spPr>
      </p:sp>
      <p:pic>
        <p:nvPicPr>
          <p:cNvPr id="31" name="Gemini also reads photos" descr="Gemini also reads photos">    </p:cNvPr>
          <p:cNvPicPr>
            <a:picLocks noChangeAspect="1"/>
          </p:cNvPicPr>
          <p:nvPr/>
        </p:nvPicPr>
        <p:blipFill>
          <a:blip r:embed="rId3"/>
          <a:stretch>
            <a:fillRect/>
          </a:stretch>
        </p:blipFill>
        <p:spPr>
          <a:xfrm>
            <a:off x="680314" y="4932274"/>
            <a:ext cx="285293" cy="285293"/>
          </a:xfrm>
          <a:prstGeom prst="rect">
            <a:avLst/>
          </a:prstGeom>
        </p:spPr>
      </p:pic>
      <p:sp>
        <p:nvSpPr>
          <p:cNvPr id="32" name="Text 27"/>
          <p:cNvSpPr txBox="1"/>
          <p:nvPr/>
        </p:nvSpPr>
        <p:spPr>
          <a:xfrm>
            <a:off x="1280160" y="4754880"/>
            <a:ext cx="4754880" cy="320040"/>
          </a:xfrm>
          <a:prstGeom prst="rect">
            <a:avLst/>
          </a:prstGeom>
          <a:noFill/>
          <a:ln/>
        </p:spPr>
        <p:txBody>
          <a:bodyPr wrap="square" lIns="0" tIns="0" rIns="0" bIns="0" rtlCol="0" anchor="t"/>
          <a:lstStyle/>
          <a:p>
            <a:pPr indent="0" marL="0">
              <a:buNone/>
            </a:pPr>
            <a:r>
              <a:rPr lang="en-US" sz="1500" b="1" dirty="0">
                <a:solidFill>
                  <a:schemeClr val="tx2"/>
                </a:solidFill>
                <a:latin typeface="Georgia" pitchFamily="34" charset="0"/>
                <a:ea typeface="Georgia" pitchFamily="34" charset="-122"/>
                <a:cs typeface="Georgia" pitchFamily="34" charset="-120"/>
              </a:rPr>
              <a:t>Gemini also reads photos</a:t>
            </a:r>
            <a:endParaRPr lang="en-US" sz="1500" dirty="0"/>
          </a:p>
        </p:txBody>
      </p:sp>
      <p:sp>
        <p:nvSpPr>
          <p:cNvPr id="33" name="Text 28"/>
          <p:cNvSpPr txBox="1"/>
          <p:nvPr/>
        </p:nvSpPr>
        <p:spPr>
          <a:xfrm>
            <a:off x="1280160" y="5120640"/>
            <a:ext cx="4754880" cy="114300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Community photos are checked for landslide, blocked road or slope damage, then compared with the area's data before anything is shown. The photo is never stored.</a:t>
            </a:r>
            <a:endParaRPr lang="en-US" sz="1300" dirty="0"/>
          </a:p>
        </p:txBody>
      </p:sp>
      <p:sp>
        <p:nvSpPr>
          <p:cNvPr id="34" name="Tested, not assumed badge"/>
          <p:cNvSpPr/>
          <p:nvPr/>
        </p:nvSpPr>
        <p:spPr>
          <a:xfrm>
            <a:off x="6217920" y="4800600"/>
            <a:ext cx="548640" cy="548640"/>
          </a:xfrm>
          <a:prstGeom prst="ellipse">
            <a:avLst/>
          </a:prstGeom>
          <a:solidFill>
            <a:srgbClr val="6B3F24"/>
          </a:solidFill>
          <a:ln w="12700">
            <a:solidFill>
              <a:srgbClr val="6B3F24"/>
            </a:solidFill>
            <a:prstDash val="solid"/>
          </a:ln>
        </p:spPr>
      </p:sp>
      <p:pic>
        <p:nvPicPr>
          <p:cNvPr id="35" name="Tested, not assumed" descr="Tested, not assumed">    </p:cNvPr>
          <p:cNvPicPr>
            <a:picLocks noChangeAspect="1"/>
          </p:cNvPicPr>
          <p:nvPr/>
        </p:nvPicPr>
        <p:blipFill>
          <a:blip r:embed="rId4"/>
          <a:stretch>
            <a:fillRect/>
          </a:stretch>
        </p:blipFill>
        <p:spPr>
          <a:xfrm>
            <a:off x="6349594" y="4932274"/>
            <a:ext cx="285293" cy="285293"/>
          </a:xfrm>
          <a:prstGeom prst="rect">
            <a:avLst/>
          </a:prstGeom>
        </p:spPr>
      </p:pic>
      <p:sp>
        <p:nvSpPr>
          <p:cNvPr id="36" name="Text 30"/>
          <p:cNvSpPr txBox="1"/>
          <p:nvPr/>
        </p:nvSpPr>
        <p:spPr>
          <a:xfrm>
            <a:off x="6949440" y="4754880"/>
            <a:ext cx="4754880" cy="320040"/>
          </a:xfrm>
          <a:prstGeom prst="rect">
            <a:avLst/>
          </a:prstGeom>
          <a:noFill/>
          <a:ln/>
        </p:spPr>
        <p:txBody>
          <a:bodyPr wrap="square" lIns="0" tIns="0" rIns="0" bIns="0" rtlCol="0" anchor="t"/>
          <a:lstStyle/>
          <a:p>
            <a:pPr indent="0" marL="0">
              <a:buNone/>
            </a:pPr>
            <a:r>
              <a:rPr lang="en-US" sz="1500" b="1" dirty="0">
                <a:solidFill>
                  <a:schemeClr val="tx2"/>
                </a:solidFill>
                <a:latin typeface="Georgia" pitchFamily="34" charset="0"/>
                <a:ea typeface="Georgia" pitchFamily="34" charset="-122"/>
                <a:cs typeface="Georgia" pitchFamily="34" charset="-120"/>
              </a:rPr>
              <a:t>Tested, not assumed</a:t>
            </a:r>
            <a:endParaRPr lang="en-US" sz="1500" dirty="0"/>
          </a:p>
        </p:txBody>
      </p:sp>
      <p:sp>
        <p:nvSpPr>
          <p:cNvPr id="37" name="Text 31"/>
          <p:cNvSpPr txBox="1"/>
          <p:nvPr/>
        </p:nvSpPr>
        <p:spPr>
          <a:xfrm>
            <a:off x="6949440" y="5120640"/>
            <a:ext cx="4754880" cy="114300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A 20-case evaluation set checks tool choices, plus 260+ automated tests. The closing caveat is fixed wording in English and Thai.</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6"/>
          <p:cNvSpPr/>
          <p:nvPr>
            <p:ph idx="106" type="title" hasCustomPrompt="1"/>
          </p:nvPr>
        </p:nvSpPr>
        <p:spPr>
          <a:xfrm>
            <a:off x="548640" y="365760"/>
            <a:ext cx="9509760" cy="868680"/>
          </a:xfrm>
          <a:prstGeom prst="rect">
            <a:avLst/>
          </a:prstGeom>
          <a:noFill/>
          <a:ln/>
        </p:spPr>
        <p:txBody>
          <a:bodyPr wrap="square" lIns="0" tIns="0" rIns="0" bIns="0" rtlCol="0" anchor="t"/>
          <a:lstStyle/>
          <a:p>
            <a:pPr algn="l" indent="0" marL="0">
              <a:buNone/>
            </a:pPr>
            <a:r>
              <a:rPr lang="en-US" sz="3000" b="1" dirty="0">
                <a:solidFill>
                  <a:schemeClr val="tx1"/>
                </a:solidFill>
                <a:latin typeface="Georgia" pitchFamily="34" charset="0"/>
                <a:ea typeface="Georgia" pitchFamily="34" charset="-122"/>
                <a:cs typeface="Georgia" pitchFamily="34" charset="-120"/>
              </a:rPr>
              <a:t>Communities can report, and find somewhere safer to go</a:t>
            </a:r>
            <a:endParaRPr lang="en-US" sz="3000" dirty="0"/>
          </a:p>
        </p:txBody>
      </p:sp>
      <p:pic>
        <p:nvPicPr>
          <p:cNvPr id="3" name="Safe places panel with a route preview" descr="Safe places panel with a route preview">    </p:cNvPr>
          <p:cNvPicPr>
            <a:picLocks noChangeAspect="1"/>
          </p:cNvPicPr>
          <p:nvPr/>
        </p:nvPicPr>
        <p:blipFill>
          <a:blip r:embed="rId1"/>
          <a:stretch>
            <a:fillRect/>
          </a:stretch>
        </p:blipFill>
        <p:spPr>
          <a:xfrm>
            <a:off x="548640" y="1417320"/>
            <a:ext cx="6035040" cy="4937760"/>
          </a:xfrm>
          <a:prstGeom prst="rect">
            <a:avLst/>
          </a:prstGeom>
        </p:spPr>
      </p:pic>
      <p:sp>
        <p:nvSpPr>
          <p:cNvPr id="4" name="Report what you see badge"/>
          <p:cNvSpPr/>
          <p:nvPr/>
        </p:nvSpPr>
        <p:spPr>
          <a:xfrm>
            <a:off x="6903720" y="1463040"/>
            <a:ext cx="566928" cy="566928"/>
          </a:xfrm>
          <a:prstGeom prst="ellipse">
            <a:avLst/>
          </a:prstGeom>
          <a:solidFill>
            <a:srgbClr val="2E7D5B"/>
          </a:solidFill>
          <a:ln w="12700">
            <a:solidFill>
              <a:srgbClr val="2E7D5B"/>
            </a:solidFill>
            <a:prstDash val="solid"/>
          </a:ln>
        </p:spPr>
      </p:sp>
      <p:pic>
        <p:nvPicPr>
          <p:cNvPr id="5" name="Report what you see" descr="Report what you see">    </p:cNvPr>
          <p:cNvPicPr>
            <a:picLocks noChangeAspect="1"/>
          </p:cNvPicPr>
          <p:nvPr/>
        </p:nvPicPr>
        <p:blipFill>
          <a:blip r:embed="rId2"/>
          <a:stretch>
            <a:fillRect/>
          </a:stretch>
        </p:blipFill>
        <p:spPr>
          <a:xfrm>
            <a:off x="7039783" y="1599103"/>
            <a:ext cx="294803" cy="294803"/>
          </a:xfrm>
          <a:prstGeom prst="rect">
            <a:avLst/>
          </a:prstGeom>
        </p:spPr>
      </p:pic>
      <p:sp>
        <p:nvSpPr>
          <p:cNvPr id="6" name="Text 2"/>
          <p:cNvSpPr txBox="1"/>
          <p:nvPr/>
        </p:nvSpPr>
        <p:spPr>
          <a:xfrm>
            <a:off x="7635240" y="1417320"/>
            <a:ext cx="4023360" cy="32004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Report what you see</a:t>
            </a:r>
            <a:endParaRPr lang="en-US" sz="1600" dirty="0"/>
          </a:p>
        </p:txBody>
      </p:sp>
      <p:sp>
        <p:nvSpPr>
          <p:cNvPr id="7" name="Text 3"/>
          <p:cNvSpPr txBox="1"/>
          <p:nvPr/>
        </p:nvSpPr>
        <p:spPr>
          <a:xfrm>
            <a:off x="7635240" y="1783080"/>
            <a:ext cx="4023360" cy="128016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A photo of a landslide, blocked road or slope damage. Gemini reads it and the data for the place is checked. Only reports where both agree are shown, for 48 hours (7 days for slope damage). Three flags hide a report.</a:t>
            </a:r>
            <a:endParaRPr lang="en-US" sz="1300" dirty="0"/>
          </a:p>
        </p:txBody>
      </p:sp>
      <p:sp>
        <p:nvSpPr>
          <p:cNvPr id="8" name="Find candidate safe places badge"/>
          <p:cNvSpPr/>
          <p:nvPr/>
        </p:nvSpPr>
        <p:spPr>
          <a:xfrm>
            <a:off x="6903720" y="3154680"/>
            <a:ext cx="566928" cy="566928"/>
          </a:xfrm>
          <a:prstGeom prst="ellipse">
            <a:avLst/>
          </a:prstGeom>
          <a:solidFill>
            <a:srgbClr val="6B3F24"/>
          </a:solidFill>
          <a:ln w="12700">
            <a:solidFill>
              <a:srgbClr val="6B3F24"/>
            </a:solidFill>
            <a:prstDash val="solid"/>
          </a:ln>
        </p:spPr>
      </p:sp>
      <p:pic>
        <p:nvPicPr>
          <p:cNvPr id="9" name="Find candidate safe places" descr="Find candidate safe places">    </p:cNvPr>
          <p:cNvPicPr>
            <a:picLocks noChangeAspect="1"/>
          </p:cNvPicPr>
          <p:nvPr/>
        </p:nvPicPr>
        <p:blipFill>
          <a:blip r:embed="rId3"/>
          <a:stretch>
            <a:fillRect/>
          </a:stretch>
        </p:blipFill>
        <p:spPr>
          <a:xfrm>
            <a:off x="7039783" y="3290743"/>
            <a:ext cx="294803" cy="294803"/>
          </a:xfrm>
          <a:prstGeom prst="rect">
            <a:avLst/>
          </a:prstGeom>
        </p:spPr>
      </p:pic>
      <p:sp>
        <p:nvSpPr>
          <p:cNvPr id="10" name="Text 5"/>
          <p:cNvSpPr txBox="1"/>
          <p:nvPr/>
        </p:nvSpPr>
        <p:spPr>
          <a:xfrm>
            <a:off x="7635240" y="3108960"/>
            <a:ext cx="4023360" cy="32004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Find candidate safe places</a:t>
            </a:r>
            <a:endParaRPr lang="en-US" sz="1600" dirty="0"/>
          </a:p>
        </p:txBody>
      </p:sp>
      <p:sp>
        <p:nvSpPr>
          <p:cNvPr id="11" name="Text 6"/>
          <p:cNvSpPr txBox="1"/>
          <p:nvPr/>
        </p:nvSpPr>
        <p:spPr>
          <a:xfrm>
            <a:off x="7635240" y="3474720"/>
            <a:ext cx="4023360" cy="128016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26,425 named places from OpenStreetMap (shelters, community buildings, schools, temples, hospitals) on ground that stays at very low risk.</a:t>
            </a:r>
            <a:endParaRPr lang="en-US" sz="1300" dirty="0"/>
          </a:p>
        </p:txBody>
      </p:sp>
      <p:sp>
        <p:nvSpPr>
          <p:cNvPr id="12" name="Preview a route badge"/>
          <p:cNvSpPr/>
          <p:nvPr/>
        </p:nvSpPr>
        <p:spPr>
          <a:xfrm>
            <a:off x="6903720" y="4846320"/>
            <a:ext cx="566928" cy="566928"/>
          </a:xfrm>
          <a:prstGeom prst="ellipse">
            <a:avLst/>
          </a:prstGeom>
          <a:solidFill>
            <a:srgbClr val="3B6EA5"/>
          </a:solidFill>
          <a:ln w="12700">
            <a:solidFill>
              <a:srgbClr val="3B6EA5"/>
            </a:solidFill>
            <a:prstDash val="solid"/>
          </a:ln>
        </p:spPr>
      </p:sp>
      <p:pic>
        <p:nvPicPr>
          <p:cNvPr id="13" name="Preview a route" descr="Preview a route">    </p:cNvPr>
          <p:cNvPicPr>
            <a:picLocks noChangeAspect="1"/>
          </p:cNvPicPr>
          <p:nvPr/>
        </p:nvPicPr>
        <p:blipFill>
          <a:blip r:embed="rId4"/>
          <a:stretch>
            <a:fillRect/>
          </a:stretch>
        </p:blipFill>
        <p:spPr>
          <a:xfrm>
            <a:off x="7039783" y="4982383"/>
            <a:ext cx="294803" cy="294803"/>
          </a:xfrm>
          <a:prstGeom prst="rect">
            <a:avLst/>
          </a:prstGeom>
        </p:spPr>
      </p:pic>
      <p:sp>
        <p:nvSpPr>
          <p:cNvPr id="14" name="Text 8"/>
          <p:cNvSpPr txBox="1"/>
          <p:nvPr/>
        </p:nvSpPr>
        <p:spPr>
          <a:xfrm>
            <a:off x="7635240" y="4800600"/>
            <a:ext cx="4023360" cy="32004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Preview a route</a:t>
            </a:r>
            <a:endParaRPr lang="en-US" sz="1600" dirty="0"/>
          </a:p>
        </p:txBody>
      </p:sp>
      <p:sp>
        <p:nvSpPr>
          <p:cNvPr id="15" name="Text 9"/>
          <p:cNvSpPr txBox="1"/>
          <p:nvPr/>
        </p:nvSpPr>
        <p:spPr>
          <a:xfrm>
            <a:off x="7635240" y="5166360"/>
            <a:ext cx="4023360" cy="128016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Google Routes API, ranked by how little of each route follows risky main-road sections. Never a guarantee of safety.</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6"/>
          <p:cNvSpPr/>
          <p:nvPr>
            <p:ph idx="106" type="title" hasCustomPrompt="1"/>
          </p:nvPr>
        </p:nvSpPr>
        <p:spPr>
          <a:xfrm>
            <a:off x="548640" y="365760"/>
            <a:ext cx="9509760" cy="868680"/>
          </a:xfrm>
          <a:prstGeom prst="rect">
            <a:avLst/>
          </a:prstGeom>
          <a:noFill/>
          <a:ln/>
        </p:spPr>
        <p:txBody>
          <a:bodyPr wrap="square" lIns="0" tIns="0" rIns="0" bIns="0" rtlCol="0" anchor="t"/>
          <a:lstStyle/>
          <a:p>
            <a:pPr algn="l" indent="0" marL="0">
              <a:buNone/>
            </a:pPr>
            <a:r>
              <a:rPr lang="en-US" sz="3000" b="1" dirty="0">
                <a:solidFill>
                  <a:schemeClr val="tx1"/>
                </a:solidFill>
                <a:latin typeface="Georgia" pitchFamily="34" charset="0"/>
                <a:ea typeface="Georgia" pitchFamily="34" charset="-122"/>
                <a:cs typeface="Georgia" pitchFamily="34" charset="-120"/>
              </a:rPr>
              <a:t>Reports to share, and alerts when risk rises</a:t>
            </a:r>
            <a:endParaRPr lang="en-US" sz="3000" dirty="0"/>
          </a:p>
        </p:txBody>
      </p:sp>
      <p:pic>
        <p:nvPicPr>
          <p:cNvPr id="3" name="Editable report preview" descr="Editable report preview">    </p:cNvPr>
          <p:cNvPicPr>
            <a:picLocks noChangeAspect="1"/>
          </p:cNvPicPr>
          <p:nvPr/>
        </p:nvPicPr>
        <p:blipFill>
          <a:blip r:embed="rId1"/>
          <a:stretch>
            <a:fillRect/>
          </a:stretch>
        </p:blipFill>
        <p:spPr>
          <a:xfrm>
            <a:off x="548640" y="1508760"/>
            <a:ext cx="4754880" cy="3749040"/>
          </a:xfrm>
          <a:prstGeom prst="rect">
            <a:avLst/>
          </a:prstGeom>
        </p:spPr>
      </p:pic>
      <p:sp>
        <p:nvSpPr>
          <p:cNvPr id="4" name="Text 1"/>
          <p:cNvSpPr txBox="1"/>
          <p:nvPr/>
        </p:nvSpPr>
        <p:spPr>
          <a:xfrm>
            <a:off x="548640" y="5349240"/>
            <a:ext cx="4754880" cy="365760"/>
          </a:xfrm>
          <a:prstGeom prst="rect">
            <a:avLst/>
          </a:prstGeom>
          <a:noFill/>
          <a:ln/>
        </p:spPr>
        <p:txBody>
          <a:bodyPr wrap="square" lIns="0" tIns="0" rIns="0" bIns="0" rtlCol="0" anchor="t"/>
          <a:lstStyle/>
          <a:p>
            <a:pPr indent="0" marL="0">
              <a:buNone/>
            </a:pPr>
            <a:r>
              <a:rPr lang="en-US" sz="1100" i="1" dirty="0">
                <a:solidFill>
                  <a:schemeClr val="accent6"/>
                </a:solidFill>
                <a:latin typeface="Arial" pitchFamily="34" charset="0"/>
                <a:ea typeface="Arial" pitchFamily="34" charset="-122"/>
                <a:cs typeface="Arial" pitchFamily="34" charset="-120"/>
              </a:rPr>
              <a:t>The report editor: click any text to edit before exporting.</a:t>
            </a:r>
            <a:endParaRPr lang="en-US" sz="1100" dirty="0"/>
          </a:p>
        </p:txBody>
      </p:sp>
      <p:sp>
        <p:nvSpPr>
          <p:cNvPr id="5" name="An editable report in one click badge"/>
          <p:cNvSpPr/>
          <p:nvPr/>
        </p:nvSpPr>
        <p:spPr>
          <a:xfrm>
            <a:off x="5532120" y="1417320"/>
            <a:ext cx="566928" cy="566928"/>
          </a:xfrm>
          <a:prstGeom prst="ellipse">
            <a:avLst/>
          </a:prstGeom>
          <a:solidFill>
            <a:srgbClr val="6B3F24"/>
          </a:solidFill>
          <a:ln w="12700">
            <a:solidFill>
              <a:srgbClr val="6B3F24"/>
            </a:solidFill>
            <a:prstDash val="solid"/>
          </a:ln>
        </p:spPr>
      </p:sp>
      <p:pic>
        <p:nvPicPr>
          <p:cNvPr id="6" name="An editable report in one click" descr="An editable report in one click">    </p:cNvPr>
          <p:cNvPicPr>
            <a:picLocks noChangeAspect="1"/>
          </p:cNvPicPr>
          <p:nvPr/>
        </p:nvPicPr>
        <p:blipFill>
          <a:blip r:embed="rId2"/>
          <a:stretch>
            <a:fillRect/>
          </a:stretch>
        </p:blipFill>
        <p:spPr>
          <a:xfrm>
            <a:off x="5668183" y="1553383"/>
            <a:ext cx="294803" cy="294803"/>
          </a:xfrm>
          <a:prstGeom prst="rect">
            <a:avLst/>
          </a:prstGeom>
        </p:spPr>
      </p:pic>
      <p:sp>
        <p:nvSpPr>
          <p:cNvPr id="7" name="Text 3"/>
          <p:cNvSpPr txBox="1"/>
          <p:nvPr/>
        </p:nvSpPr>
        <p:spPr>
          <a:xfrm>
            <a:off x="6263640" y="1371600"/>
            <a:ext cx="5394960" cy="32004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An editable report in one click</a:t>
            </a:r>
            <a:endParaRPr lang="en-US" sz="1600" dirty="0"/>
          </a:p>
        </p:txBody>
      </p:sp>
      <p:sp>
        <p:nvSpPr>
          <p:cNvPr id="8" name="Text 4"/>
          <p:cNvSpPr txBox="1"/>
          <p:nvPr/>
        </p:nvSpPr>
        <p:spPr>
          <a:xfrm>
            <a:off x="6263640" y="1737360"/>
            <a:ext cx="5394960" cy="128016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Maps, key figures, charts, priority areas and general safety guidance for the result on screen or the national overview. Click any text to edit, then save as PDF in English or Thai.</a:t>
            </a:r>
            <a:endParaRPr lang="en-US" sz="1400" dirty="0"/>
          </a:p>
        </p:txBody>
      </p:sp>
      <p:sp>
        <p:nvSpPr>
          <p:cNvPr id="9" name="Watch a province badge"/>
          <p:cNvSpPr/>
          <p:nvPr/>
        </p:nvSpPr>
        <p:spPr>
          <a:xfrm>
            <a:off x="5532120" y="3108960"/>
            <a:ext cx="566928" cy="566928"/>
          </a:xfrm>
          <a:prstGeom prst="ellipse">
            <a:avLst/>
          </a:prstGeom>
          <a:solidFill>
            <a:srgbClr val="E8772E"/>
          </a:solidFill>
          <a:ln w="12700">
            <a:solidFill>
              <a:srgbClr val="E8772E"/>
            </a:solidFill>
            <a:prstDash val="solid"/>
          </a:ln>
        </p:spPr>
      </p:sp>
      <p:pic>
        <p:nvPicPr>
          <p:cNvPr id="10" name="Watch a province" descr="Watch a province">    </p:cNvPr>
          <p:cNvPicPr>
            <a:picLocks noChangeAspect="1"/>
          </p:cNvPicPr>
          <p:nvPr/>
        </p:nvPicPr>
        <p:blipFill>
          <a:blip r:embed="rId3"/>
          <a:stretch>
            <a:fillRect/>
          </a:stretch>
        </p:blipFill>
        <p:spPr>
          <a:xfrm>
            <a:off x="5668183" y="3245023"/>
            <a:ext cx="294803" cy="294803"/>
          </a:xfrm>
          <a:prstGeom prst="rect">
            <a:avLst/>
          </a:prstGeom>
        </p:spPr>
      </p:pic>
      <p:sp>
        <p:nvSpPr>
          <p:cNvPr id="11" name="Text 6"/>
          <p:cNvSpPr txBox="1"/>
          <p:nvPr/>
        </p:nvSpPr>
        <p:spPr>
          <a:xfrm>
            <a:off x="6263640" y="3063240"/>
            <a:ext cx="5394960" cy="32004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Watch a province</a:t>
            </a:r>
            <a:endParaRPr lang="en-US" sz="1600" dirty="0"/>
          </a:p>
        </p:txBody>
      </p:sp>
      <p:sp>
        <p:nvSpPr>
          <p:cNvPr id="12" name="Text 7"/>
          <p:cNvSpPr txBox="1"/>
          <p:nvPr/>
        </p:nvSpPr>
        <p:spPr>
          <a:xfrm>
            <a:off x="6263640" y="3429000"/>
            <a:ext cx="5394960" cy="128016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Signed-in users watch up to 10 provinces and get an alert in the app when the peak risk of one rises. Alerts are notices, not warnings.</a:t>
            </a:r>
            <a:endParaRPr lang="en-US" sz="1400" dirty="0"/>
          </a:p>
        </p:txBody>
      </p:sp>
      <p:sp>
        <p:nvSpPr>
          <p:cNvPr id="13" name="History and a daily rhythm badge"/>
          <p:cNvSpPr/>
          <p:nvPr/>
        </p:nvSpPr>
        <p:spPr>
          <a:xfrm>
            <a:off x="5532120" y="4800600"/>
            <a:ext cx="566928" cy="566928"/>
          </a:xfrm>
          <a:prstGeom prst="ellipse">
            <a:avLst/>
          </a:prstGeom>
          <a:solidFill>
            <a:srgbClr val="3B6EA5"/>
          </a:solidFill>
          <a:ln w="12700">
            <a:solidFill>
              <a:srgbClr val="3B6EA5"/>
            </a:solidFill>
            <a:prstDash val="solid"/>
          </a:ln>
        </p:spPr>
      </p:sp>
      <p:pic>
        <p:nvPicPr>
          <p:cNvPr id="14" name="History and a daily rhythm" descr="History and a daily rhythm">    </p:cNvPr>
          <p:cNvPicPr>
            <a:picLocks noChangeAspect="1"/>
          </p:cNvPicPr>
          <p:nvPr/>
        </p:nvPicPr>
        <p:blipFill>
          <a:blip r:embed="rId4"/>
          <a:stretch>
            <a:fillRect/>
          </a:stretch>
        </p:blipFill>
        <p:spPr>
          <a:xfrm>
            <a:off x="5668183" y="4936663"/>
            <a:ext cx="294803" cy="294803"/>
          </a:xfrm>
          <a:prstGeom prst="rect">
            <a:avLst/>
          </a:prstGeom>
        </p:spPr>
      </p:pic>
      <p:sp>
        <p:nvSpPr>
          <p:cNvPr id="15" name="Text 9"/>
          <p:cNvSpPr txBox="1"/>
          <p:nvPr/>
        </p:nvSpPr>
        <p:spPr>
          <a:xfrm>
            <a:off x="6263640" y="4754880"/>
            <a:ext cx="5394960" cy="32004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History and a daily rhythm</a:t>
            </a:r>
            <a:endParaRPr lang="en-US" sz="1600" dirty="0"/>
          </a:p>
        </p:txBody>
      </p:sp>
      <p:sp>
        <p:nvSpPr>
          <p:cNvPr id="16" name="Text 10"/>
          <p:cNvSpPr txBox="1"/>
          <p:nvPr/>
        </p:nvSpPr>
        <p:spPr>
          <a:xfrm>
            <a:off x="6263640" y="5120640"/>
            <a:ext cx="5394960" cy="128016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A Cloud Run job runs at 06:30 and 18:30 Bangkok time, refreshes rainfall, appends the day to BigQuery (30-day trend) and announces new data through Pub/Sub.</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6"/>
          <p:cNvSpPr/>
          <p:nvPr>
            <p:ph idx="106" type="title" hasCustomPrompt="1"/>
          </p:nvPr>
        </p:nvSpPr>
        <p:spPr>
          <a:xfrm>
            <a:off x="548640" y="365760"/>
            <a:ext cx="9509760" cy="868680"/>
          </a:xfrm>
          <a:prstGeom prst="rect">
            <a:avLst/>
          </a:prstGeom>
          <a:noFill/>
          <a:ln/>
        </p:spPr>
        <p:txBody>
          <a:bodyPr wrap="square" lIns="0" tIns="0" rIns="0" bIns="0" rtlCol="0" anchor="t"/>
          <a:lstStyle/>
          <a:p>
            <a:pPr algn="l" indent="0" marL="0">
              <a:buNone/>
            </a:pPr>
            <a:r>
              <a:rPr lang="en-US" sz="3000" b="1" dirty="0">
                <a:solidFill>
                  <a:schemeClr val="tx1"/>
                </a:solidFill>
                <a:latin typeface="Georgia" pitchFamily="34" charset="0"/>
                <a:ea typeface="Georgia" pitchFamily="34" charset="-122"/>
                <a:cs typeface="Georgia" pitchFamily="34" charset="-120"/>
              </a:rPr>
              <a:t>Built on Google Cloud, serverless end to end</a:t>
            </a:r>
            <a:endParaRPr lang="en-US" sz="3000" dirty="0"/>
          </a:p>
        </p:txBody>
      </p:sp>
      <p:sp>
        <p:nvSpPr>
          <p:cNvPr id="3" name="browser"/>
          <p:cNvSpPr/>
          <p:nvPr/>
        </p:nvSpPr>
        <p:spPr>
          <a:xfrm>
            <a:off x="548640" y="2011680"/>
            <a:ext cx="1737360" cy="1097280"/>
          </a:xfrm>
          <a:prstGeom prst="roundRect">
            <a:avLst>
              <a:gd name="adj" fmla="val 6667"/>
            </a:avLst>
          </a:prstGeom>
          <a:solidFill>
            <a:srgbClr val="6B3F24"/>
          </a:solidFill>
          <a:ln w="12700">
            <a:solidFill>
              <a:srgbClr val="6B3F24"/>
            </a:solidFill>
            <a:prstDash val="solid"/>
          </a:ln>
        </p:spPr>
      </p:sp>
      <p:sp>
        <p:nvSpPr>
          <p:cNvPr id="4" name="Text 2"/>
          <p:cNvSpPr txBox="1"/>
          <p:nvPr/>
        </p:nvSpPr>
        <p:spPr>
          <a:xfrm>
            <a:off x="640080" y="2084832"/>
            <a:ext cx="1554480" cy="320040"/>
          </a:xfrm>
          <a:prstGeom prst="rect">
            <a:avLst/>
          </a:prstGeom>
          <a:noFill/>
          <a:ln/>
        </p:spPr>
        <p:txBody>
          <a:bodyPr wrap="square" lIns="0" tIns="0" rIns="0" bIns="0" rtlCol="0" anchor="t"/>
          <a:lstStyle/>
          <a:p>
            <a:pPr algn="ctr" indent="0" marL="0">
              <a:buNone/>
            </a:pPr>
            <a:r>
              <a:rPr lang="en-US" sz="1300" b="1" dirty="0">
                <a:solidFill>
                  <a:schemeClr val="bg1"/>
                </a:solidFill>
                <a:latin typeface="Georgia" pitchFamily="34" charset="0"/>
                <a:ea typeface="Georgia" pitchFamily="34" charset="-122"/>
                <a:cs typeface="Georgia" pitchFamily="34" charset="-120"/>
              </a:rPr>
              <a:t>Browser</a:t>
            </a:r>
            <a:endParaRPr lang="en-US" sz="1300" dirty="0"/>
          </a:p>
        </p:txBody>
      </p:sp>
      <p:sp>
        <p:nvSpPr>
          <p:cNvPr id="5" name="Text 3"/>
          <p:cNvSpPr txBox="1"/>
          <p:nvPr/>
        </p:nvSpPr>
        <p:spPr>
          <a:xfrm>
            <a:off x="640080" y="2423160"/>
            <a:ext cx="1554480" cy="640080"/>
          </a:xfrm>
          <a:prstGeom prst="rect">
            <a:avLst/>
          </a:prstGeom>
          <a:noFill/>
          <a:ln/>
        </p:spPr>
        <p:txBody>
          <a:bodyPr wrap="square" lIns="0" tIns="0" rIns="0" bIns="0" rtlCol="0" anchor="t"/>
          <a:lstStyle/>
          <a:p>
            <a:pPr algn="ctr" indent="0" marL="0">
              <a:buNone/>
            </a:pPr>
            <a:r>
              <a:rPr lang="en-US" sz="1000" dirty="0">
                <a:solidFill>
                  <a:schemeClr val="bg1"/>
                </a:solidFill>
                <a:latin typeface="Arial" pitchFamily="34" charset="0"/>
                <a:ea typeface="Arial" pitchFamily="34" charset="-122"/>
                <a:cs typeface="Arial" pitchFamily="34" charset="-120"/>
              </a:rPr>
              <a:t>English · Thai · phone to widescreen</a:t>
            </a:r>
            <a:endParaRPr lang="en-US" sz="1000" dirty="0"/>
          </a:p>
        </p:txBody>
      </p:sp>
      <p:sp>
        <p:nvSpPr>
          <p:cNvPr id="6" name="arrow browser web"/>
          <p:cNvSpPr/>
          <p:nvPr/>
        </p:nvSpPr>
        <p:spPr>
          <a:xfrm>
            <a:off x="2331720" y="2377440"/>
            <a:ext cx="320040" cy="365760"/>
          </a:xfrm>
          <a:prstGeom prst="rightArrow">
            <a:avLst/>
          </a:prstGeom>
          <a:solidFill>
            <a:schemeClr val="accent6"/>
          </a:solidFill>
          <a:ln w="12700">
            <a:solidFill>
              <a:schemeClr val="accent6"/>
            </a:solidFill>
            <a:prstDash val="solid"/>
          </a:ln>
        </p:spPr>
      </p:sp>
      <p:sp>
        <p:nvSpPr>
          <p:cNvPr id="7" name="web"/>
          <p:cNvSpPr/>
          <p:nvPr/>
        </p:nvSpPr>
        <p:spPr>
          <a:xfrm>
            <a:off x="2697480" y="2011680"/>
            <a:ext cx="2011680" cy="1097280"/>
          </a:xfrm>
          <a:prstGeom prst="roundRect">
            <a:avLst>
              <a:gd name="adj" fmla="val 6667"/>
            </a:avLst>
          </a:prstGeom>
          <a:solidFill>
            <a:srgbClr val="E8772E"/>
          </a:solidFill>
          <a:ln w="12700">
            <a:solidFill>
              <a:srgbClr val="E8772E"/>
            </a:solidFill>
            <a:prstDash val="solid"/>
          </a:ln>
        </p:spPr>
      </p:sp>
      <p:sp>
        <p:nvSpPr>
          <p:cNvPr id="8" name="Text 6"/>
          <p:cNvSpPr txBox="1"/>
          <p:nvPr/>
        </p:nvSpPr>
        <p:spPr>
          <a:xfrm>
            <a:off x="2788920" y="2084832"/>
            <a:ext cx="1828800" cy="320040"/>
          </a:xfrm>
          <a:prstGeom prst="rect">
            <a:avLst/>
          </a:prstGeom>
          <a:noFill/>
          <a:ln/>
        </p:spPr>
        <p:txBody>
          <a:bodyPr wrap="square" lIns="0" tIns="0" rIns="0" bIns="0" rtlCol="0" anchor="t"/>
          <a:lstStyle/>
          <a:p>
            <a:pPr algn="ctr" indent="0" marL="0">
              <a:buNone/>
            </a:pPr>
            <a:r>
              <a:rPr lang="en-US" sz="1300" b="1" dirty="0">
                <a:solidFill>
                  <a:schemeClr val="bg1"/>
                </a:solidFill>
                <a:latin typeface="Georgia" pitchFamily="34" charset="0"/>
                <a:ea typeface="Georgia" pitchFamily="34" charset="-122"/>
                <a:cs typeface="Georgia" pitchFamily="34" charset="-120"/>
              </a:rPr>
              <a:t>Cloud Run: web</a:t>
            </a:r>
            <a:endParaRPr lang="en-US" sz="1300" dirty="0"/>
          </a:p>
        </p:txBody>
      </p:sp>
      <p:sp>
        <p:nvSpPr>
          <p:cNvPr id="9" name="Text 7"/>
          <p:cNvSpPr txBox="1"/>
          <p:nvPr/>
        </p:nvSpPr>
        <p:spPr>
          <a:xfrm>
            <a:off x="2788920" y="2423160"/>
            <a:ext cx="1828800" cy="640080"/>
          </a:xfrm>
          <a:prstGeom prst="rect">
            <a:avLst/>
          </a:prstGeom>
          <a:noFill/>
          <a:ln/>
        </p:spPr>
        <p:txBody>
          <a:bodyPr wrap="square" lIns="0" tIns="0" rIns="0" bIns="0" rtlCol="0" anchor="t"/>
          <a:lstStyle/>
          <a:p>
            <a:pPr algn="ctr" indent="0" marL="0">
              <a:buNone/>
            </a:pPr>
            <a:r>
              <a:rPr lang="en-US" sz="1000" dirty="0">
                <a:solidFill>
                  <a:schemeClr val="bg1"/>
                </a:solidFill>
                <a:latin typeface="Arial" pitchFamily="34" charset="0"/>
                <a:ea typeface="Arial" pitchFamily="34" charset="-122"/>
                <a:cs typeface="Arial" pitchFamily="34" charset="-120"/>
              </a:rPr>
              <a:t>Next.js · security headers</a:t>
            </a:r>
            <a:endParaRPr lang="en-US" sz="1000" dirty="0"/>
          </a:p>
        </p:txBody>
      </p:sp>
      <p:sp>
        <p:nvSpPr>
          <p:cNvPr id="10" name="arrow web api"/>
          <p:cNvSpPr/>
          <p:nvPr/>
        </p:nvSpPr>
        <p:spPr>
          <a:xfrm>
            <a:off x="4754880" y="2377440"/>
            <a:ext cx="320040" cy="365760"/>
          </a:xfrm>
          <a:prstGeom prst="rightArrow">
            <a:avLst/>
          </a:prstGeom>
          <a:solidFill>
            <a:schemeClr val="accent6"/>
          </a:solidFill>
          <a:ln w="12700">
            <a:solidFill>
              <a:schemeClr val="accent6"/>
            </a:solidFill>
            <a:prstDash val="solid"/>
          </a:ln>
        </p:spPr>
      </p:sp>
      <p:sp>
        <p:nvSpPr>
          <p:cNvPr id="11" name="api"/>
          <p:cNvSpPr/>
          <p:nvPr/>
        </p:nvSpPr>
        <p:spPr>
          <a:xfrm>
            <a:off x="5120640" y="2011680"/>
            <a:ext cx="2194560" cy="1097280"/>
          </a:xfrm>
          <a:prstGeom prst="roundRect">
            <a:avLst>
              <a:gd name="adj" fmla="val 6667"/>
            </a:avLst>
          </a:prstGeom>
          <a:solidFill>
            <a:srgbClr val="E8772E"/>
          </a:solidFill>
          <a:ln w="12700">
            <a:solidFill>
              <a:srgbClr val="E8772E"/>
            </a:solidFill>
            <a:prstDash val="solid"/>
          </a:ln>
        </p:spPr>
      </p:sp>
      <p:sp>
        <p:nvSpPr>
          <p:cNvPr id="12" name="Text 10"/>
          <p:cNvSpPr txBox="1"/>
          <p:nvPr/>
        </p:nvSpPr>
        <p:spPr>
          <a:xfrm>
            <a:off x="5212080" y="2084832"/>
            <a:ext cx="2011680" cy="320040"/>
          </a:xfrm>
          <a:prstGeom prst="rect">
            <a:avLst/>
          </a:prstGeom>
          <a:noFill/>
          <a:ln/>
        </p:spPr>
        <p:txBody>
          <a:bodyPr wrap="square" lIns="0" tIns="0" rIns="0" bIns="0" rtlCol="0" anchor="t"/>
          <a:lstStyle/>
          <a:p>
            <a:pPr algn="ctr" indent="0" marL="0">
              <a:buNone/>
            </a:pPr>
            <a:r>
              <a:rPr lang="en-US" sz="1300" b="1" dirty="0">
                <a:solidFill>
                  <a:schemeClr val="bg1"/>
                </a:solidFill>
                <a:latin typeface="Georgia" pitchFamily="34" charset="0"/>
                <a:ea typeface="Georgia" pitchFamily="34" charset="-122"/>
                <a:cs typeface="Georgia" pitchFamily="34" charset="-120"/>
              </a:rPr>
              <a:t>Cloud Run: API</a:t>
            </a:r>
            <a:endParaRPr lang="en-US" sz="1300" dirty="0"/>
          </a:p>
        </p:txBody>
      </p:sp>
      <p:sp>
        <p:nvSpPr>
          <p:cNvPr id="13" name="Text 11"/>
          <p:cNvSpPr txBox="1"/>
          <p:nvPr/>
        </p:nvSpPr>
        <p:spPr>
          <a:xfrm>
            <a:off x="5212080" y="2423160"/>
            <a:ext cx="2011680" cy="640080"/>
          </a:xfrm>
          <a:prstGeom prst="rect">
            <a:avLst/>
          </a:prstGeom>
          <a:noFill/>
          <a:ln/>
        </p:spPr>
        <p:txBody>
          <a:bodyPr wrap="square" lIns="0" tIns="0" rIns="0" bIns="0" rtlCol="0" anchor="t"/>
          <a:lstStyle/>
          <a:p>
            <a:pPr algn="ctr" indent="0" marL="0">
              <a:buNone/>
            </a:pPr>
            <a:r>
              <a:rPr lang="en-US" sz="1000" dirty="0">
                <a:solidFill>
                  <a:schemeClr val="bg1"/>
                </a:solidFill>
                <a:latin typeface="Arial" pitchFamily="34" charset="0"/>
                <a:ea typeface="Arial" pitchFamily="34" charset="-122"/>
                <a:cs typeface="Arial" pitchFamily="34" charset="-120"/>
              </a:rPr>
              <a:t>FastAPI · ADK agent · rate limits</a:t>
            </a:r>
            <a:endParaRPr lang="en-US" sz="1000" dirty="0"/>
          </a:p>
        </p:txBody>
      </p:sp>
      <p:sp>
        <p:nvSpPr>
          <p:cNvPr id="14" name="arrow api services"/>
          <p:cNvSpPr/>
          <p:nvPr/>
        </p:nvSpPr>
        <p:spPr>
          <a:xfrm>
            <a:off x="7360920" y="2377440"/>
            <a:ext cx="320040" cy="365760"/>
          </a:xfrm>
          <a:prstGeom prst="rightArrow">
            <a:avLst/>
          </a:prstGeom>
          <a:solidFill>
            <a:schemeClr val="accent6"/>
          </a:solidFill>
          <a:ln w="12700">
            <a:solidFill>
              <a:schemeClr val="accent6"/>
            </a:solidFill>
            <a:prstDash val="solid"/>
          </a:ln>
        </p:spPr>
      </p:sp>
      <p:sp>
        <p:nvSpPr>
          <p:cNvPr id="15" name="service Gemini (Vertex AI)"/>
          <p:cNvSpPr/>
          <p:nvPr/>
        </p:nvSpPr>
        <p:spPr>
          <a:xfrm>
            <a:off x="7680960" y="1371600"/>
            <a:ext cx="1965960" cy="914400"/>
          </a:xfrm>
          <a:prstGeom prst="roundRect">
            <a:avLst>
              <a:gd name="adj" fmla="val 8000"/>
            </a:avLst>
          </a:prstGeom>
          <a:solidFill>
            <a:srgbClr val="3B6EA5"/>
          </a:solidFill>
          <a:ln w="12700">
            <a:solidFill>
              <a:srgbClr val="3B6EA5"/>
            </a:solidFill>
            <a:prstDash val="solid"/>
          </a:ln>
        </p:spPr>
      </p:sp>
      <p:sp>
        <p:nvSpPr>
          <p:cNvPr id="16" name="Text 14"/>
          <p:cNvSpPr txBox="1"/>
          <p:nvPr/>
        </p:nvSpPr>
        <p:spPr>
          <a:xfrm>
            <a:off x="7772400" y="1444752"/>
            <a:ext cx="1783080" cy="320040"/>
          </a:xfrm>
          <a:prstGeom prst="rect">
            <a:avLst/>
          </a:prstGeom>
          <a:noFill/>
          <a:ln/>
        </p:spPr>
        <p:txBody>
          <a:bodyPr wrap="square" lIns="0" tIns="0" rIns="0" bIns="0" rtlCol="0" anchor="t"/>
          <a:lstStyle/>
          <a:p>
            <a:pPr algn="ctr" indent="0" marL="0">
              <a:buNone/>
            </a:pPr>
            <a:r>
              <a:rPr lang="en-US" sz="1300" b="1" dirty="0">
                <a:solidFill>
                  <a:schemeClr val="bg1"/>
                </a:solidFill>
                <a:latin typeface="Georgia" pitchFamily="34" charset="0"/>
                <a:ea typeface="Georgia" pitchFamily="34" charset="-122"/>
                <a:cs typeface="Georgia" pitchFamily="34" charset="-120"/>
              </a:rPr>
              <a:t>Gemini (Vertex AI)</a:t>
            </a:r>
            <a:endParaRPr lang="en-US" sz="1300" dirty="0"/>
          </a:p>
        </p:txBody>
      </p:sp>
      <p:sp>
        <p:nvSpPr>
          <p:cNvPr id="17" name="Text 15"/>
          <p:cNvSpPr txBox="1"/>
          <p:nvPr/>
        </p:nvSpPr>
        <p:spPr>
          <a:xfrm>
            <a:off x="7772400" y="1783080"/>
            <a:ext cx="1783080" cy="457200"/>
          </a:xfrm>
          <a:prstGeom prst="rect">
            <a:avLst/>
          </a:prstGeom>
          <a:noFill/>
          <a:ln/>
        </p:spPr>
        <p:txBody>
          <a:bodyPr wrap="square" lIns="0" tIns="0" rIns="0" bIns="0" rtlCol="0" anchor="t"/>
          <a:lstStyle/>
          <a:p>
            <a:pPr algn="ctr" indent="0" marL="0">
              <a:buNone/>
            </a:pPr>
            <a:r>
              <a:rPr lang="en-US" sz="1000" dirty="0">
                <a:solidFill>
                  <a:schemeClr val="bg1"/>
                </a:solidFill>
                <a:latin typeface="Arial" pitchFamily="34" charset="0"/>
                <a:ea typeface="Arial" pitchFamily="34" charset="-122"/>
                <a:cs typeface="Arial" pitchFamily="34" charset="-120"/>
              </a:rPr>
              <a:t>chat agent, photo check</a:t>
            </a:r>
            <a:endParaRPr lang="en-US" sz="1000" dirty="0"/>
          </a:p>
        </p:txBody>
      </p:sp>
      <p:sp>
        <p:nvSpPr>
          <p:cNvPr id="18" name="service Earth Engine"/>
          <p:cNvSpPr/>
          <p:nvPr/>
        </p:nvSpPr>
        <p:spPr>
          <a:xfrm>
            <a:off x="9692640" y="1371600"/>
            <a:ext cx="1965960" cy="914400"/>
          </a:xfrm>
          <a:prstGeom prst="roundRect">
            <a:avLst>
              <a:gd name="adj" fmla="val 8000"/>
            </a:avLst>
          </a:prstGeom>
          <a:solidFill>
            <a:srgbClr val="3B6EA5"/>
          </a:solidFill>
          <a:ln w="12700">
            <a:solidFill>
              <a:srgbClr val="3B6EA5"/>
            </a:solidFill>
            <a:prstDash val="solid"/>
          </a:ln>
        </p:spPr>
      </p:sp>
      <p:sp>
        <p:nvSpPr>
          <p:cNvPr id="19" name="Text 17"/>
          <p:cNvSpPr txBox="1"/>
          <p:nvPr/>
        </p:nvSpPr>
        <p:spPr>
          <a:xfrm>
            <a:off x="9784080" y="1444752"/>
            <a:ext cx="1783080" cy="320040"/>
          </a:xfrm>
          <a:prstGeom prst="rect">
            <a:avLst/>
          </a:prstGeom>
          <a:noFill/>
          <a:ln/>
        </p:spPr>
        <p:txBody>
          <a:bodyPr wrap="square" lIns="0" tIns="0" rIns="0" bIns="0" rtlCol="0" anchor="t"/>
          <a:lstStyle/>
          <a:p>
            <a:pPr algn="ctr" indent="0" marL="0">
              <a:buNone/>
            </a:pPr>
            <a:r>
              <a:rPr lang="en-US" sz="1300" b="1" dirty="0">
                <a:solidFill>
                  <a:schemeClr val="bg1"/>
                </a:solidFill>
                <a:latin typeface="Georgia" pitchFamily="34" charset="0"/>
                <a:ea typeface="Georgia" pitchFamily="34" charset="-122"/>
                <a:cs typeface="Georgia" pitchFamily="34" charset="-120"/>
              </a:rPr>
              <a:t>Earth Engine</a:t>
            </a:r>
            <a:endParaRPr lang="en-US" sz="1300" dirty="0"/>
          </a:p>
        </p:txBody>
      </p:sp>
      <p:sp>
        <p:nvSpPr>
          <p:cNvPr id="20" name="Text 18"/>
          <p:cNvSpPr txBox="1"/>
          <p:nvPr/>
        </p:nvSpPr>
        <p:spPr>
          <a:xfrm>
            <a:off x="9784080" y="1783080"/>
            <a:ext cx="1783080" cy="457200"/>
          </a:xfrm>
          <a:prstGeom prst="rect">
            <a:avLst/>
          </a:prstGeom>
          <a:noFill/>
          <a:ln/>
        </p:spPr>
        <p:txBody>
          <a:bodyPr wrap="square" lIns="0" tIns="0" rIns="0" bIns="0" rtlCol="0" anchor="t"/>
          <a:lstStyle/>
          <a:p>
            <a:pPr algn="ctr" indent="0" marL="0">
              <a:buNone/>
            </a:pPr>
            <a:r>
              <a:rPr lang="en-US" sz="1000" dirty="0">
                <a:solidFill>
                  <a:schemeClr val="bg1"/>
                </a:solidFill>
                <a:latin typeface="Arial" pitchFamily="34" charset="0"/>
                <a:ea typeface="Arial" pitchFamily="34" charset="-122"/>
                <a:cs typeface="Arial" pitchFamily="34" charset="-120"/>
              </a:rPr>
              <a:t>layers, map tiles</a:t>
            </a:r>
            <a:endParaRPr lang="en-US" sz="1000" dirty="0"/>
          </a:p>
        </p:txBody>
      </p:sp>
      <p:sp>
        <p:nvSpPr>
          <p:cNvPr id="21" name="service Firestore"/>
          <p:cNvSpPr/>
          <p:nvPr/>
        </p:nvSpPr>
        <p:spPr>
          <a:xfrm>
            <a:off x="7680960" y="2423160"/>
            <a:ext cx="1965960" cy="914400"/>
          </a:xfrm>
          <a:prstGeom prst="roundRect">
            <a:avLst>
              <a:gd name="adj" fmla="val 8000"/>
            </a:avLst>
          </a:prstGeom>
          <a:solidFill>
            <a:srgbClr val="3B6EA5"/>
          </a:solidFill>
          <a:ln w="12700">
            <a:solidFill>
              <a:srgbClr val="3B6EA5"/>
            </a:solidFill>
            <a:prstDash val="solid"/>
          </a:ln>
        </p:spPr>
      </p:sp>
      <p:sp>
        <p:nvSpPr>
          <p:cNvPr id="22" name="Text 20"/>
          <p:cNvSpPr txBox="1"/>
          <p:nvPr/>
        </p:nvSpPr>
        <p:spPr>
          <a:xfrm>
            <a:off x="7772400" y="2496312"/>
            <a:ext cx="1783080" cy="320040"/>
          </a:xfrm>
          <a:prstGeom prst="rect">
            <a:avLst/>
          </a:prstGeom>
          <a:noFill/>
          <a:ln/>
        </p:spPr>
        <p:txBody>
          <a:bodyPr wrap="square" lIns="0" tIns="0" rIns="0" bIns="0" rtlCol="0" anchor="t"/>
          <a:lstStyle/>
          <a:p>
            <a:pPr algn="ctr" indent="0" marL="0">
              <a:buNone/>
            </a:pPr>
            <a:r>
              <a:rPr lang="en-US" sz="1300" b="1" dirty="0">
                <a:solidFill>
                  <a:schemeClr val="bg1"/>
                </a:solidFill>
                <a:latin typeface="Georgia" pitchFamily="34" charset="0"/>
                <a:ea typeface="Georgia" pitchFamily="34" charset="-122"/>
                <a:cs typeface="Georgia" pitchFamily="34" charset="-120"/>
              </a:rPr>
              <a:t>Firestore</a:t>
            </a:r>
            <a:endParaRPr lang="en-US" sz="1300" dirty="0"/>
          </a:p>
        </p:txBody>
      </p:sp>
      <p:sp>
        <p:nvSpPr>
          <p:cNvPr id="23" name="Text 21"/>
          <p:cNvSpPr txBox="1"/>
          <p:nvPr/>
        </p:nvSpPr>
        <p:spPr>
          <a:xfrm>
            <a:off x="7772400" y="2834640"/>
            <a:ext cx="1783080" cy="457200"/>
          </a:xfrm>
          <a:prstGeom prst="rect">
            <a:avLst/>
          </a:prstGeom>
          <a:noFill/>
          <a:ln/>
        </p:spPr>
        <p:txBody>
          <a:bodyPr wrap="square" lIns="0" tIns="0" rIns="0" bIns="0" rtlCol="0" anchor="t"/>
          <a:lstStyle/>
          <a:p>
            <a:pPr algn="ctr" indent="0" marL="0">
              <a:buNone/>
            </a:pPr>
            <a:r>
              <a:rPr lang="en-US" sz="1000" dirty="0">
                <a:solidFill>
                  <a:schemeClr val="bg1"/>
                </a:solidFill>
                <a:latin typeface="Arial" pitchFamily="34" charset="0"/>
                <a:ea typeface="Arial" pitchFamily="34" charset="-122"/>
                <a:cs typeface="Arial" pitchFamily="34" charset="-120"/>
              </a:rPr>
              <a:t>cache, chats, alerts, reports</a:t>
            </a:r>
            <a:endParaRPr lang="en-US" sz="1000" dirty="0"/>
          </a:p>
        </p:txBody>
      </p:sp>
      <p:sp>
        <p:nvSpPr>
          <p:cNvPr id="24" name="service Cloud Storage"/>
          <p:cNvSpPr/>
          <p:nvPr/>
        </p:nvSpPr>
        <p:spPr>
          <a:xfrm>
            <a:off x="9692640" y="2423160"/>
            <a:ext cx="1965960" cy="914400"/>
          </a:xfrm>
          <a:prstGeom prst="roundRect">
            <a:avLst>
              <a:gd name="adj" fmla="val 8000"/>
            </a:avLst>
          </a:prstGeom>
          <a:solidFill>
            <a:srgbClr val="3B6EA5"/>
          </a:solidFill>
          <a:ln w="12700">
            <a:solidFill>
              <a:srgbClr val="3B6EA5"/>
            </a:solidFill>
            <a:prstDash val="solid"/>
          </a:ln>
        </p:spPr>
      </p:sp>
      <p:sp>
        <p:nvSpPr>
          <p:cNvPr id="25" name="Text 23"/>
          <p:cNvSpPr txBox="1"/>
          <p:nvPr/>
        </p:nvSpPr>
        <p:spPr>
          <a:xfrm>
            <a:off x="9784080" y="2496312"/>
            <a:ext cx="1783080" cy="320040"/>
          </a:xfrm>
          <a:prstGeom prst="rect">
            <a:avLst/>
          </a:prstGeom>
          <a:noFill/>
          <a:ln/>
        </p:spPr>
        <p:txBody>
          <a:bodyPr wrap="square" lIns="0" tIns="0" rIns="0" bIns="0" rtlCol="0" anchor="t"/>
          <a:lstStyle/>
          <a:p>
            <a:pPr algn="ctr" indent="0" marL="0">
              <a:buNone/>
            </a:pPr>
            <a:r>
              <a:rPr lang="en-US" sz="1300" b="1" dirty="0">
                <a:solidFill>
                  <a:schemeClr val="bg1"/>
                </a:solidFill>
                <a:latin typeface="Georgia" pitchFamily="34" charset="0"/>
                <a:ea typeface="Georgia" pitchFamily="34" charset="-122"/>
                <a:cs typeface="Georgia" pitchFamily="34" charset="-120"/>
              </a:rPr>
              <a:t>Cloud Storage</a:t>
            </a:r>
            <a:endParaRPr lang="en-US" sz="1300" dirty="0"/>
          </a:p>
        </p:txBody>
      </p:sp>
      <p:sp>
        <p:nvSpPr>
          <p:cNvPr id="26" name="Text 24"/>
          <p:cNvSpPr txBox="1"/>
          <p:nvPr/>
        </p:nvSpPr>
        <p:spPr>
          <a:xfrm>
            <a:off x="9784080" y="2834640"/>
            <a:ext cx="1783080" cy="457200"/>
          </a:xfrm>
          <a:prstGeom prst="rect">
            <a:avLst/>
          </a:prstGeom>
          <a:noFill/>
          <a:ln/>
        </p:spPr>
        <p:txBody>
          <a:bodyPr wrap="square" lIns="0" tIns="0" rIns="0" bIns="0" rtlCol="0" anchor="t"/>
          <a:lstStyle/>
          <a:p>
            <a:pPr algn="ctr" indent="0" marL="0">
              <a:buNone/>
            </a:pPr>
            <a:r>
              <a:rPr lang="en-US" sz="1000" dirty="0">
                <a:solidFill>
                  <a:schemeClr val="bg1"/>
                </a:solidFill>
                <a:latin typeface="Arial" pitchFamily="34" charset="0"/>
                <a:ea typeface="Arial" pitchFamily="34" charset="-122"/>
                <a:cs typeface="Arial" pitchFamily="34" charset="-120"/>
              </a:rPr>
              <a:t>precomputed data files</a:t>
            </a:r>
            <a:endParaRPr lang="en-US" sz="1000" dirty="0"/>
          </a:p>
        </p:txBody>
      </p:sp>
      <p:sp>
        <p:nvSpPr>
          <p:cNvPr id="27" name="service BigQuery"/>
          <p:cNvSpPr/>
          <p:nvPr/>
        </p:nvSpPr>
        <p:spPr>
          <a:xfrm>
            <a:off x="7680960" y="3474720"/>
            <a:ext cx="1965960" cy="914400"/>
          </a:xfrm>
          <a:prstGeom prst="roundRect">
            <a:avLst>
              <a:gd name="adj" fmla="val 8000"/>
            </a:avLst>
          </a:prstGeom>
          <a:solidFill>
            <a:srgbClr val="3B6EA5"/>
          </a:solidFill>
          <a:ln w="12700">
            <a:solidFill>
              <a:srgbClr val="3B6EA5"/>
            </a:solidFill>
            <a:prstDash val="solid"/>
          </a:ln>
        </p:spPr>
      </p:sp>
      <p:sp>
        <p:nvSpPr>
          <p:cNvPr id="28" name="Text 26"/>
          <p:cNvSpPr txBox="1"/>
          <p:nvPr/>
        </p:nvSpPr>
        <p:spPr>
          <a:xfrm>
            <a:off x="7772400" y="3547872"/>
            <a:ext cx="1783080" cy="320040"/>
          </a:xfrm>
          <a:prstGeom prst="rect">
            <a:avLst/>
          </a:prstGeom>
          <a:noFill/>
          <a:ln/>
        </p:spPr>
        <p:txBody>
          <a:bodyPr wrap="square" lIns="0" tIns="0" rIns="0" bIns="0" rtlCol="0" anchor="t"/>
          <a:lstStyle/>
          <a:p>
            <a:pPr algn="ctr" indent="0" marL="0">
              <a:buNone/>
            </a:pPr>
            <a:r>
              <a:rPr lang="en-US" sz="1300" b="1" dirty="0">
                <a:solidFill>
                  <a:schemeClr val="bg1"/>
                </a:solidFill>
                <a:latin typeface="Georgia" pitchFamily="34" charset="0"/>
                <a:ea typeface="Georgia" pitchFamily="34" charset="-122"/>
                <a:cs typeface="Georgia" pitchFamily="34" charset="-120"/>
              </a:rPr>
              <a:t>BigQuery</a:t>
            </a:r>
            <a:endParaRPr lang="en-US" sz="1300" dirty="0"/>
          </a:p>
        </p:txBody>
      </p:sp>
      <p:sp>
        <p:nvSpPr>
          <p:cNvPr id="29" name="Text 27"/>
          <p:cNvSpPr txBox="1"/>
          <p:nvPr/>
        </p:nvSpPr>
        <p:spPr>
          <a:xfrm>
            <a:off x="7772400" y="3886200"/>
            <a:ext cx="1783080" cy="457200"/>
          </a:xfrm>
          <a:prstGeom prst="rect">
            <a:avLst/>
          </a:prstGeom>
          <a:noFill/>
          <a:ln/>
        </p:spPr>
        <p:txBody>
          <a:bodyPr wrap="square" lIns="0" tIns="0" rIns="0" bIns="0" rtlCol="0" anchor="t"/>
          <a:lstStyle/>
          <a:p>
            <a:pPr algn="ctr" indent="0" marL="0">
              <a:buNone/>
            </a:pPr>
            <a:r>
              <a:rPr lang="en-US" sz="1000" dirty="0">
                <a:solidFill>
                  <a:schemeClr val="bg1"/>
                </a:solidFill>
                <a:latin typeface="Arial" pitchFamily="34" charset="0"/>
                <a:ea typeface="Arial" pitchFamily="34" charset="-122"/>
                <a:cs typeface="Arial" pitchFamily="34" charset="-120"/>
              </a:rPr>
              <a:t>30-day history</a:t>
            </a:r>
            <a:endParaRPr lang="en-US" sz="1000" dirty="0"/>
          </a:p>
        </p:txBody>
      </p:sp>
      <p:sp>
        <p:nvSpPr>
          <p:cNvPr id="30" name="service Pub/Sub"/>
          <p:cNvSpPr/>
          <p:nvPr/>
        </p:nvSpPr>
        <p:spPr>
          <a:xfrm>
            <a:off x="9692640" y="3474720"/>
            <a:ext cx="1965960" cy="914400"/>
          </a:xfrm>
          <a:prstGeom prst="roundRect">
            <a:avLst>
              <a:gd name="adj" fmla="val 8000"/>
            </a:avLst>
          </a:prstGeom>
          <a:solidFill>
            <a:srgbClr val="3B6EA5"/>
          </a:solidFill>
          <a:ln w="12700">
            <a:solidFill>
              <a:srgbClr val="3B6EA5"/>
            </a:solidFill>
            <a:prstDash val="solid"/>
          </a:ln>
        </p:spPr>
      </p:sp>
      <p:sp>
        <p:nvSpPr>
          <p:cNvPr id="31" name="Text 29"/>
          <p:cNvSpPr txBox="1"/>
          <p:nvPr/>
        </p:nvSpPr>
        <p:spPr>
          <a:xfrm>
            <a:off x="9784080" y="3547872"/>
            <a:ext cx="1783080" cy="320040"/>
          </a:xfrm>
          <a:prstGeom prst="rect">
            <a:avLst/>
          </a:prstGeom>
          <a:noFill/>
          <a:ln/>
        </p:spPr>
        <p:txBody>
          <a:bodyPr wrap="square" lIns="0" tIns="0" rIns="0" bIns="0" rtlCol="0" anchor="t"/>
          <a:lstStyle/>
          <a:p>
            <a:pPr algn="ctr" indent="0" marL="0">
              <a:buNone/>
            </a:pPr>
            <a:r>
              <a:rPr lang="en-US" sz="1300" b="1" dirty="0">
                <a:solidFill>
                  <a:schemeClr val="bg1"/>
                </a:solidFill>
                <a:latin typeface="Georgia" pitchFamily="34" charset="0"/>
                <a:ea typeface="Georgia" pitchFamily="34" charset="-122"/>
                <a:cs typeface="Georgia" pitchFamily="34" charset="-120"/>
              </a:rPr>
              <a:t>Pub/Sub</a:t>
            </a:r>
            <a:endParaRPr lang="en-US" sz="1300" dirty="0"/>
          </a:p>
        </p:txBody>
      </p:sp>
      <p:sp>
        <p:nvSpPr>
          <p:cNvPr id="32" name="Text 30"/>
          <p:cNvSpPr txBox="1"/>
          <p:nvPr/>
        </p:nvSpPr>
        <p:spPr>
          <a:xfrm>
            <a:off x="9784080" y="3886200"/>
            <a:ext cx="1783080" cy="457200"/>
          </a:xfrm>
          <a:prstGeom prst="rect">
            <a:avLst/>
          </a:prstGeom>
          <a:noFill/>
          <a:ln/>
        </p:spPr>
        <p:txBody>
          <a:bodyPr wrap="square" lIns="0" tIns="0" rIns="0" bIns="0" rtlCol="0" anchor="t"/>
          <a:lstStyle/>
          <a:p>
            <a:pPr algn="ctr" indent="0" marL="0">
              <a:buNone/>
            </a:pPr>
            <a:r>
              <a:rPr lang="en-US" sz="1000" dirty="0">
                <a:solidFill>
                  <a:schemeClr val="bg1"/>
                </a:solidFill>
                <a:latin typeface="Arial" pitchFamily="34" charset="0"/>
                <a:ea typeface="Arial" pitchFamily="34" charset="-122"/>
                <a:cs typeface="Arial" pitchFamily="34" charset="-120"/>
              </a:rPr>
              <a:t>new-data message</a:t>
            </a:r>
            <a:endParaRPr lang="en-US" sz="1000" dirty="0"/>
          </a:p>
        </p:txBody>
      </p:sp>
      <p:sp>
        <p:nvSpPr>
          <p:cNvPr id="33" name="scheduler"/>
          <p:cNvSpPr/>
          <p:nvPr/>
        </p:nvSpPr>
        <p:spPr>
          <a:xfrm>
            <a:off x="548640" y="4297680"/>
            <a:ext cx="2194560" cy="1005840"/>
          </a:xfrm>
          <a:prstGeom prst="roundRect">
            <a:avLst>
              <a:gd name="adj" fmla="val 7273"/>
            </a:avLst>
          </a:prstGeom>
          <a:solidFill>
            <a:srgbClr val="2E7D5B"/>
          </a:solidFill>
          <a:ln w="12700">
            <a:solidFill>
              <a:srgbClr val="2E7D5B"/>
            </a:solidFill>
            <a:prstDash val="solid"/>
          </a:ln>
        </p:spPr>
      </p:sp>
      <p:sp>
        <p:nvSpPr>
          <p:cNvPr id="34" name="Text 32"/>
          <p:cNvSpPr txBox="1"/>
          <p:nvPr/>
        </p:nvSpPr>
        <p:spPr>
          <a:xfrm>
            <a:off x="640080" y="4370832"/>
            <a:ext cx="2011680" cy="320040"/>
          </a:xfrm>
          <a:prstGeom prst="rect">
            <a:avLst/>
          </a:prstGeom>
          <a:noFill/>
          <a:ln/>
        </p:spPr>
        <p:txBody>
          <a:bodyPr wrap="square" lIns="0" tIns="0" rIns="0" bIns="0" rtlCol="0" anchor="t"/>
          <a:lstStyle/>
          <a:p>
            <a:pPr algn="ctr" indent="0" marL="0">
              <a:buNone/>
            </a:pPr>
            <a:r>
              <a:rPr lang="en-US" sz="1300" b="1" dirty="0">
                <a:solidFill>
                  <a:schemeClr val="bg1"/>
                </a:solidFill>
                <a:latin typeface="Georgia" pitchFamily="34" charset="0"/>
                <a:ea typeface="Georgia" pitchFamily="34" charset="-122"/>
                <a:cs typeface="Georgia" pitchFamily="34" charset="-120"/>
              </a:rPr>
              <a:t>Cloud Scheduler</a:t>
            </a:r>
            <a:endParaRPr lang="en-US" sz="1300" dirty="0"/>
          </a:p>
        </p:txBody>
      </p:sp>
      <p:sp>
        <p:nvSpPr>
          <p:cNvPr id="35" name="Text 33"/>
          <p:cNvSpPr txBox="1"/>
          <p:nvPr/>
        </p:nvSpPr>
        <p:spPr>
          <a:xfrm>
            <a:off x="640080" y="4709160"/>
            <a:ext cx="2011680" cy="548640"/>
          </a:xfrm>
          <a:prstGeom prst="rect">
            <a:avLst/>
          </a:prstGeom>
          <a:noFill/>
          <a:ln/>
        </p:spPr>
        <p:txBody>
          <a:bodyPr wrap="square" lIns="0" tIns="0" rIns="0" bIns="0" rtlCol="0" anchor="t"/>
          <a:lstStyle/>
          <a:p>
            <a:pPr algn="ctr" indent="0" marL="0">
              <a:buNone/>
            </a:pPr>
            <a:r>
              <a:rPr lang="en-US" sz="1000" dirty="0">
                <a:solidFill>
                  <a:schemeClr val="bg1"/>
                </a:solidFill>
                <a:latin typeface="Arial" pitchFamily="34" charset="0"/>
                <a:ea typeface="Arial" pitchFamily="34" charset="-122"/>
                <a:cs typeface="Arial" pitchFamily="34" charset="-120"/>
              </a:rPr>
              <a:t>06:30 and 18:30 Bangkok</a:t>
            </a:r>
            <a:endParaRPr lang="en-US" sz="1000" dirty="0"/>
          </a:p>
        </p:txBody>
      </p:sp>
      <p:sp>
        <p:nvSpPr>
          <p:cNvPr id="36" name="arrow sched job"/>
          <p:cNvSpPr/>
          <p:nvPr/>
        </p:nvSpPr>
        <p:spPr>
          <a:xfrm>
            <a:off x="2788920" y="4617720"/>
            <a:ext cx="320040" cy="365760"/>
          </a:xfrm>
          <a:prstGeom prst="rightArrow">
            <a:avLst/>
          </a:prstGeom>
          <a:solidFill>
            <a:schemeClr val="accent6"/>
          </a:solidFill>
          <a:ln w="12700">
            <a:solidFill>
              <a:schemeClr val="accent6"/>
            </a:solidFill>
            <a:prstDash val="solid"/>
          </a:ln>
        </p:spPr>
      </p:sp>
      <p:sp>
        <p:nvSpPr>
          <p:cNvPr id="37" name="job"/>
          <p:cNvSpPr/>
          <p:nvPr/>
        </p:nvSpPr>
        <p:spPr>
          <a:xfrm>
            <a:off x="3154680" y="4297680"/>
            <a:ext cx="2377440" cy="1005840"/>
          </a:xfrm>
          <a:prstGeom prst="roundRect">
            <a:avLst>
              <a:gd name="adj" fmla="val 7273"/>
            </a:avLst>
          </a:prstGeom>
          <a:solidFill>
            <a:srgbClr val="2E7D5B"/>
          </a:solidFill>
          <a:ln w="12700">
            <a:solidFill>
              <a:srgbClr val="2E7D5B"/>
            </a:solidFill>
            <a:prstDash val="solid"/>
          </a:ln>
        </p:spPr>
      </p:sp>
      <p:sp>
        <p:nvSpPr>
          <p:cNvPr id="38" name="Text 36"/>
          <p:cNvSpPr txBox="1"/>
          <p:nvPr/>
        </p:nvSpPr>
        <p:spPr>
          <a:xfrm>
            <a:off x="3246120" y="4370832"/>
            <a:ext cx="2194560" cy="320040"/>
          </a:xfrm>
          <a:prstGeom prst="rect">
            <a:avLst/>
          </a:prstGeom>
          <a:noFill/>
          <a:ln/>
        </p:spPr>
        <p:txBody>
          <a:bodyPr wrap="square" lIns="0" tIns="0" rIns="0" bIns="0" rtlCol="0" anchor="t"/>
          <a:lstStyle/>
          <a:p>
            <a:pPr algn="ctr" indent="0" marL="0">
              <a:buNone/>
            </a:pPr>
            <a:r>
              <a:rPr lang="en-US" sz="1300" b="1" dirty="0">
                <a:solidFill>
                  <a:schemeClr val="bg1"/>
                </a:solidFill>
                <a:latin typeface="Georgia" pitchFamily="34" charset="0"/>
                <a:ea typeface="Georgia" pitchFamily="34" charset="-122"/>
                <a:cs typeface="Georgia" pitchFamily="34" charset="-120"/>
              </a:rPr>
              <a:t>Cloud Run job</a:t>
            </a:r>
            <a:endParaRPr lang="en-US" sz="1300" dirty="0"/>
          </a:p>
        </p:txBody>
      </p:sp>
      <p:sp>
        <p:nvSpPr>
          <p:cNvPr id="39" name="Text 37"/>
          <p:cNvSpPr txBox="1"/>
          <p:nvPr/>
        </p:nvSpPr>
        <p:spPr>
          <a:xfrm>
            <a:off x="3246120" y="4709160"/>
            <a:ext cx="2194560" cy="548640"/>
          </a:xfrm>
          <a:prstGeom prst="rect">
            <a:avLst/>
          </a:prstGeom>
          <a:noFill/>
          <a:ln/>
        </p:spPr>
        <p:txBody>
          <a:bodyPr wrap="square" lIns="0" tIns="0" rIns="0" bIns="0" rtlCol="0" anchor="t"/>
          <a:lstStyle/>
          <a:p>
            <a:pPr algn="ctr" indent="0" marL="0">
              <a:buNone/>
            </a:pPr>
            <a:r>
              <a:rPr lang="en-US" sz="1000" dirty="0">
                <a:solidFill>
                  <a:schemeClr val="bg1"/>
                </a:solidFill>
                <a:latin typeface="Arial" pitchFamily="34" charset="0"/>
                <a:ea typeface="Arial" pitchFamily="34" charset="-122"/>
                <a:cs typeface="Arial" pitchFamily="34" charset="-120"/>
              </a:rPr>
              <a:t>rainfall per tambon, overview, history, alerts</a:t>
            </a:r>
            <a:endParaRPr lang="en-US" sz="1000" dirty="0"/>
          </a:p>
        </p:txBody>
      </p:sp>
      <p:sp>
        <p:nvSpPr>
          <p:cNvPr id="40" name="Text 38"/>
          <p:cNvSpPr txBox="1"/>
          <p:nvPr/>
        </p:nvSpPr>
        <p:spPr>
          <a:xfrm>
            <a:off x="5669280" y="4434840"/>
            <a:ext cx="1920240" cy="914400"/>
          </a:xfrm>
          <a:prstGeom prst="rect">
            <a:avLst/>
          </a:prstGeom>
          <a:noFill/>
          <a:ln/>
        </p:spPr>
        <p:txBody>
          <a:bodyPr wrap="square" lIns="0" tIns="0" rIns="0" bIns="0" rtlCol="0" anchor="t"/>
          <a:lstStyle/>
          <a:p>
            <a:pPr indent="0" marL="0">
              <a:buNone/>
            </a:pPr>
            <a:r>
              <a:rPr lang="en-US" sz="1100" dirty="0">
                <a:solidFill>
                  <a:schemeClr val="accent6"/>
                </a:solidFill>
                <a:latin typeface="Arial" pitchFamily="34" charset="0"/>
                <a:ea typeface="Arial" pitchFamily="34" charset="-122"/>
                <a:cs typeface="Arial" pitchFamily="34" charset="-120"/>
              </a:rPr>
              <a:t>writes the daily files to Cloud Storage, history to BigQuery, and announces new data through Pub/Sub</a:t>
            </a:r>
            <a:endParaRPr lang="en-US" sz="1100" dirty="0"/>
          </a:p>
        </p:txBody>
      </p:sp>
      <p:sp>
        <p:nvSpPr>
          <p:cNvPr id="41" name="auth"/>
          <p:cNvSpPr/>
          <p:nvPr/>
        </p:nvSpPr>
        <p:spPr>
          <a:xfrm>
            <a:off x="7680960" y="4617720"/>
            <a:ext cx="1965960" cy="914400"/>
          </a:xfrm>
          <a:prstGeom prst="roundRect">
            <a:avLst>
              <a:gd name="adj" fmla="val 8000"/>
            </a:avLst>
          </a:prstGeom>
          <a:solidFill>
            <a:srgbClr val="6B3F24"/>
          </a:solidFill>
          <a:ln w="12700">
            <a:solidFill>
              <a:srgbClr val="6B3F24"/>
            </a:solidFill>
            <a:prstDash val="solid"/>
          </a:ln>
        </p:spPr>
      </p:sp>
      <p:sp>
        <p:nvSpPr>
          <p:cNvPr id="42" name="Text 40"/>
          <p:cNvSpPr txBox="1"/>
          <p:nvPr/>
        </p:nvSpPr>
        <p:spPr>
          <a:xfrm>
            <a:off x="7772400" y="4690872"/>
            <a:ext cx="1783080" cy="320040"/>
          </a:xfrm>
          <a:prstGeom prst="rect">
            <a:avLst/>
          </a:prstGeom>
          <a:noFill/>
          <a:ln/>
        </p:spPr>
        <p:txBody>
          <a:bodyPr wrap="square" lIns="0" tIns="0" rIns="0" bIns="0" rtlCol="0" anchor="t"/>
          <a:lstStyle/>
          <a:p>
            <a:pPr algn="ctr" indent="0" marL="0">
              <a:buNone/>
            </a:pPr>
            <a:r>
              <a:rPr lang="en-US" sz="1300" b="1" dirty="0">
                <a:solidFill>
                  <a:schemeClr val="bg1"/>
                </a:solidFill>
                <a:latin typeface="Georgia" pitchFamily="34" charset="0"/>
                <a:ea typeface="Georgia" pitchFamily="34" charset="-122"/>
                <a:cs typeface="Georgia" pitchFamily="34" charset="-120"/>
              </a:rPr>
              <a:t>Firebase Auth</a:t>
            </a:r>
            <a:endParaRPr lang="en-US" sz="1300" dirty="0"/>
          </a:p>
        </p:txBody>
      </p:sp>
      <p:sp>
        <p:nvSpPr>
          <p:cNvPr id="43" name="Text 41"/>
          <p:cNvSpPr txBox="1"/>
          <p:nvPr/>
        </p:nvSpPr>
        <p:spPr>
          <a:xfrm>
            <a:off x="7772400" y="5029200"/>
            <a:ext cx="1783080" cy="457200"/>
          </a:xfrm>
          <a:prstGeom prst="rect">
            <a:avLst/>
          </a:prstGeom>
          <a:noFill/>
          <a:ln/>
        </p:spPr>
        <p:txBody>
          <a:bodyPr wrap="square" lIns="0" tIns="0" rIns="0" bIns="0" rtlCol="0" anchor="t"/>
          <a:lstStyle/>
          <a:p>
            <a:pPr algn="ctr" indent="0" marL="0">
              <a:buNone/>
            </a:pPr>
            <a:r>
              <a:rPr lang="en-US" sz="1000" dirty="0">
                <a:solidFill>
                  <a:schemeClr val="bg1"/>
                </a:solidFill>
                <a:latin typeface="Arial" pitchFamily="34" charset="0"/>
                <a:ea typeface="Arial" pitchFamily="34" charset="-122"/>
                <a:cs typeface="Arial" pitchFamily="34" charset="-120"/>
              </a:rPr>
              <a:t>Google sign-in</a:t>
            </a:r>
            <a:endParaRPr lang="en-US" sz="1000" dirty="0"/>
          </a:p>
        </p:txBody>
      </p:sp>
      <p:sp>
        <p:nvSpPr>
          <p:cNvPr id="44" name="maps"/>
          <p:cNvSpPr/>
          <p:nvPr/>
        </p:nvSpPr>
        <p:spPr>
          <a:xfrm>
            <a:off x="9692640" y="4617720"/>
            <a:ext cx="1965960" cy="914400"/>
          </a:xfrm>
          <a:prstGeom prst="roundRect">
            <a:avLst>
              <a:gd name="adj" fmla="val 8000"/>
            </a:avLst>
          </a:prstGeom>
          <a:solidFill>
            <a:srgbClr val="6B3F24"/>
          </a:solidFill>
          <a:ln w="12700">
            <a:solidFill>
              <a:srgbClr val="6B3F24"/>
            </a:solidFill>
            <a:prstDash val="solid"/>
          </a:ln>
        </p:spPr>
      </p:sp>
      <p:sp>
        <p:nvSpPr>
          <p:cNvPr id="45" name="Text 43"/>
          <p:cNvSpPr txBox="1"/>
          <p:nvPr/>
        </p:nvSpPr>
        <p:spPr>
          <a:xfrm>
            <a:off x="9784080" y="4690872"/>
            <a:ext cx="1783080" cy="320040"/>
          </a:xfrm>
          <a:prstGeom prst="rect">
            <a:avLst/>
          </a:prstGeom>
          <a:noFill/>
          <a:ln/>
        </p:spPr>
        <p:txBody>
          <a:bodyPr wrap="square" lIns="0" tIns="0" rIns="0" bIns="0" rtlCol="0" anchor="t"/>
          <a:lstStyle/>
          <a:p>
            <a:pPr algn="ctr" indent="0" marL="0">
              <a:buNone/>
            </a:pPr>
            <a:r>
              <a:rPr lang="en-US" sz="1300" b="1" dirty="0">
                <a:solidFill>
                  <a:schemeClr val="bg1"/>
                </a:solidFill>
                <a:latin typeface="Georgia" pitchFamily="34" charset="0"/>
                <a:ea typeface="Georgia" pitchFamily="34" charset="-122"/>
                <a:cs typeface="Georgia" pitchFamily="34" charset="-120"/>
              </a:rPr>
              <a:t>Maps Platform</a:t>
            </a:r>
            <a:endParaRPr lang="en-US" sz="1300" dirty="0"/>
          </a:p>
        </p:txBody>
      </p:sp>
      <p:sp>
        <p:nvSpPr>
          <p:cNvPr id="46" name="Text 44"/>
          <p:cNvSpPr txBox="1"/>
          <p:nvPr/>
        </p:nvSpPr>
        <p:spPr>
          <a:xfrm>
            <a:off x="9784080" y="5029200"/>
            <a:ext cx="1783080" cy="457200"/>
          </a:xfrm>
          <a:prstGeom prst="rect">
            <a:avLst/>
          </a:prstGeom>
          <a:noFill/>
          <a:ln/>
        </p:spPr>
        <p:txBody>
          <a:bodyPr wrap="square" lIns="0" tIns="0" rIns="0" bIns="0" rtlCol="0" anchor="t"/>
          <a:lstStyle/>
          <a:p>
            <a:pPr algn="ctr" indent="0" marL="0">
              <a:buNone/>
            </a:pPr>
            <a:r>
              <a:rPr lang="en-US" sz="1000" dirty="0">
                <a:solidFill>
                  <a:schemeClr val="bg1"/>
                </a:solidFill>
                <a:latin typeface="Arial" pitchFamily="34" charset="0"/>
                <a:ea typeface="Arial" pitchFamily="34" charset="-122"/>
                <a:cs typeface="Arial" pitchFamily="34" charset="-120"/>
              </a:rPr>
              <a:t>Maps JS, Geocoding, Routes</a:t>
            </a:r>
            <a:endParaRPr lang="en-US" sz="1000" dirty="0"/>
          </a:p>
        </p:txBody>
      </p:sp>
      <p:sp>
        <p:nvSpPr>
          <p:cNvPr id="47" name="Text 45"/>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Also: Secret Manager, Artifact Registry, Cloud Build and Cloud Logging for deployment and operations.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6"/>
          <p:cNvSpPr/>
          <p:nvPr>
            <p:ph idx="106" type="title" hasCustomPrompt="1"/>
          </p:nvPr>
        </p:nvSpPr>
        <p:spPr>
          <a:xfrm>
            <a:off x="548640" y="365760"/>
            <a:ext cx="9509760" cy="868680"/>
          </a:xfrm>
          <a:prstGeom prst="rect">
            <a:avLst/>
          </a:prstGeom>
          <a:noFill/>
          <a:ln/>
        </p:spPr>
        <p:txBody>
          <a:bodyPr wrap="square" lIns="0" tIns="0" rIns="0" bIns="0" rtlCol="0" anchor="t"/>
          <a:lstStyle/>
          <a:p>
            <a:pPr algn="l" indent="0" marL="0">
              <a:buNone/>
            </a:pPr>
            <a:r>
              <a:rPr lang="en-US" sz="3000" b="1" dirty="0">
                <a:solidFill>
                  <a:schemeClr val="tx1"/>
                </a:solidFill>
                <a:latin typeface="Georgia" pitchFamily="34" charset="0"/>
                <a:ea typeface="Georgia" pitchFamily="34" charset="-122"/>
                <a:cs typeface="Georgia" pitchFamily="34" charset="-120"/>
              </a:rPr>
              <a:t>Feasible today, and built to scale and to last</a:t>
            </a:r>
            <a:endParaRPr lang="en-US" sz="3000" dirty="0"/>
          </a:p>
        </p:txBody>
      </p:sp>
      <p:sp>
        <p:nvSpPr>
          <p:cNvPr id="3" name="scale card 1"/>
          <p:cNvSpPr/>
          <p:nvPr/>
        </p:nvSpPr>
        <p:spPr>
          <a:xfrm>
            <a:off x="548640" y="1463040"/>
            <a:ext cx="5440680" cy="2057400"/>
          </a:xfrm>
          <a:prstGeom prst="roundRect">
            <a:avLst>
              <a:gd name="adj" fmla="val 3556"/>
            </a:avLst>
          </a:prstGeom>
          <a:solidFill>
            <a:schemeClr val="bg2"/>
          </a:solidFill>
          <a:ln w="9525">
            <a:solidFill>
              <a:schemeClr val="bg2"/>
            </a:solidFill>
            <a:prstDash val="solid"/>
          </a:ln>
        </p:spPr>
      </p:sp>
      <p:sp>
        <p:nvSpPr>
          <p:cNvPr id="4" name="Fast by design badge"/>
          <p:cNvSpPr/>
          <p:nvPr/>
        </p:nvSpPr>
        <p:spPr>
          <a:xfrm>
            <a:off x="822960" y="1737360"/>
            <a:ext cx="640080" cy="640080"/>
          </a:xfrm>
          <a:prstGeom prst="ellipse">
            <a:avLst/>
          </a:prstGeom>
          <a:solidFill>
            <a:srgbClr val="E8772E"/>
          </a:solidFill>
          <a:ln w="12700">
            <a:solidFill>
              <a:srgbClr val="E8772E"/>
            </a:solidFill>
            <a:prstDash val="solid"/>
          </a:ln>
        </p:spPr>
      </p:sp>
      <p:pic>
        <p:nvPicPr>
          <p:cNvPr id="5" name="Fast by design" descr="Fast by design">    </p:cNvPr>
          <p:cNvPicPr>
            <a:picLocks noChangeAspect="1"/>
          </p:cNvPicPr>
          <p:nvPr/>
        </p:nvPicPr>
        <p:blipFill>
          <a:blip r:embed="rId1"/>
          <a:stretch>
            <a:fillRect/>
          </a:stretch>
        </p:blipFill>
        <p:spPr>
          <a:xfrm>
            <a:off x="976579" y="1890979"/>
            <a:ext cx="332842" cy="332842"/>
          </a:xfrm>
          <a:prstGeom prst="rect">
            <a:avLst/>
          </a:prstGeom>
        </p:spPr>
      </p:pic>
      <p:sp>
        <p:nvSpPr>
          <p:cNvPr id="6" name="Text 3"/>
          <p:cNvSpPr txBox="1"/>
          <p:nvPr/>
        </p:nvSpPr>
        <p:spPr>
          <a:xfrm>
            <a:off x="1645920" y="1737360"/>
            <a:ext cx="4114800" cy="365760"/>
          </a:xfrm>
          <a:prstGeom prst="rect">
            <a:avLst/>
          </a:prstGeom>
          <a:noFill/>
          <a:ln/>
        </p:spPr>
        <p:txBody>
          <a:bodyPr wrap="square" lIns="0" tIns="0" rIns="0" bIns="0" rtlCol="0" anchor="t"/>
          <a:lstStyle/>
          <a:p>
            <a:pPr indent="0" marL="0">
              <a:buNone/>
            </a:pPr>
            <a:r>
              <a:rPr lang="en-US" sz="1800" b="1" dirty="0">
                <a:solidFill>
                  <a:schemeClr val="tx1"/>
                </a:solidFill>
                <a:latin typeface="Georgia" pitchFamily="34" charset="0"/>
                <a:ea typeface="Georgia" pitchFamily="34" charset="-122"/>
                <a:cs typeface="Georgia" pitchFamily="34" charset="-120"/>
              </a:rPr>
              <a:t>Fast by design</a:t>
            </a:r>
            <a:endParaRPr lang="en-US" sz="1800" dirty="0"/>
          </a:p>
        </p:txBody>
      </p:sp>
      <p:sp>
        <p:nvSpPr>
          <p:cNvPr id="7" name="Text 4"/>
          <p:cNvSpPr txBox="1"/>
          <p:nvPr/>
        </p:nvSpPr>
        <p:spPr>
          <a:xfrm>
            <a:off x="1645920" y="2194560"/>
            <a:ext cx="4114800" cy="123444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Heavy statistics are precomputed twice a day. The 5-day national overview answers in about 0.2 s; a scenario in roughly 1 to 8 s.</a:t>
            </a:r>
            <a:endParaRPr lang="en-US" sz="1500" dirty="0"/>
          </a:p>
        </p:txBody>
      </p:sp>
      <p:sp>
        <p:nvSpPr>
          <p:cNvPr id="8" name="scale card 2"/>
          <p:cNvSpPr/>
          <p:nvPr/>
        </p:nvSpPr>
        <p:spPr>
          <a:xfrm>
            <a:off x="6217920" y="1463040"/>
            <a:ext cx="5440680" cy="2057400"/>
          </a:xfrm>
          <a:prstGeom prst="roundRect">
            <a:avLst>
              <a:gd name="adj" fmla="val 3556"/>
            </a:avLst>
          </a:prstGeom>
          <a:solidFill>
            <a:schemeClr val="bg2"/>
          </a:solidFill>
          <a:ln w="9525">
            <a:solidFill>
              <a:schemeClr val="bg2"/>
            </a:solidFill>
            <a:prstDash val="solid"/>
          </a:ln>
        </p:spPr>
      </p:sp>
      <p:sp>
        <p:nvSpPr>
          <p:cNvPr id="9" name="Elastic and shared badge"/>
          <p:cNvSpPr/>
          <p:nvPr/>
        </p:nvSpPr>
        <p:spPr>
          <a:xfrm>
            <a:off x="6492240" y="1737360"/>
            <a:ext cx="640080" cy="640080"/>
          </a:xfrm>
          <a:prstGeom prst="ellipse">
            <a:avLst/>
          </a:prstGeom>
          <a:solidFill>
            <a:srgbClr val="3B6EA5"/>
          </a:solidFill>
          <a:ln w="12700">
            <a:solidFill>
              <a:srgbClr val="3B6EA5"/>
            </a:solidFill>
            <a:prstDash val="solid"/>
          </a:ln>
        </p:spPr>
      </p:sp>
      <p:pic>
        <p:nvPicPr>
          <p:cNvPr id="10" name="Elastic and shared" descr="Elastic and shared">    </p:cNvPr>
          <p:cNvPicPr>
            <a:picLocks noChangeAspect="1"/>
          </p:cNvPicPr>
          <p:nvPr/>
        </p:nvPicPr>
        <p:blipFill>
          <a:blip r:embed="rId2"/>
          <a:stretch>
            <a:fillRect/>
          </a:stretch>
        </p:blipFill>
        <p:spPr>
          <a:xfrm>
            <a:off x="6645859" y="1890979"/>
            <a:ext cx="332842" cy="332842"/>
          </a:xfrm>
          <a:prstGeom prst="rect">
            <a:avLst/>
          </a:prstGeom>
        </p:spPr>
      </p:pic>
      <p:sp>
        <p:nvSpPr>
          <p:cNvPr id="11" name="Text 7"/>
          <p:cNvSpPr txBox="1"/>
          <p:nvPr/>
        </p:nvSpPr>
        <p:spPr>
          <a:xfrm>
            <a:off x="7315200" y="1737360"/>
            <a:ext cx="4114800" cy="365760"/>
          </a:xfrm>
          <a:prstGeom prst="rect">
            <a:avLst/>
          </a:prstGeom>
          <a:noFill/>
          <a:ln/>
        </p:spPr>
        <p:txBody>
          <a:bodyPr wrap="square" lIns="0" tIns="0" rIns="0" bIns="0" rtlCol="0" anchor="t"/>
          <a:lstStyle/>
          <a:p>
            <a:pPr indent="0" marL="0">
              <a:buNone/>
            </a:pPr>
            <a:r>
              <a:rPr lang="en-US" sz="1800" b="1" dirty="0">
                <a:solidFill>
                  <a:schemeClr val="tx1"/>
                </a:solidFill>
                <a:latin typeface="Georgia" pitchFamily="34" charset="0"/>
                <a:ea typeface="Georgia" pitchFamily="34" charset="-122"/>
                <a:cs typeface="Georgia" pitchFamily="34" charset="-120"/>
              </a:rPr>
              <a:t>Elastic and shared</a:t>
            </a:r>
            <a:endParaRPr lang="en-US" sz="1800" dirty="0"/>
          </a:p>
        </p:txBody>
      </p:sp>
      <p:sp>
        <p:nvSpPr>
          <p:cNvPr id="12" name="Text 8"/>
          <p:cNvSpPr txBox="1"/>
          <p:nvPr/>
        </p:nvSpPr>
        <p:spPr>
          <a:xfrm>
            <a:off x="7315200" y="2194560"/>
            <a:ext cx="4114800" cy="123444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Cloud Run scales with traffic. Simultaneous requests share one computation, results are cached in Firestore and in memory, and stale data is served while it refreshes.</a:t>
            </a:r>
            <a:endParaRPr lang="en-US" sz="1500" dirty="0"/>
          </a:p>
        </p:txBody>
      </p:sp>
      <p:sp>
        <p:nvSpPr>
          <p:cNvPr id="13" name="scale card 3"/>
          <p:cNvSpPr/>
          <p:nvPr/>
        </p:nvSpPr>
        <p:spPr>
          <a:xfrm>
            <a:off x="548640" y="3703320"/>
            <a:ext cx="5440680" cy="2057400"/>
          </a:xfrm>
          <a:prstGeom prst="roundRect">
            <a:avLst>
              <a:gd name="adj" fmla="val 3556"/>
            </a:avLst>
          </a:prstGeom>
          <a:solidFill>
            <a:schemeClr val="bg2"/>
          </a:solidFill>
          <a:ln w="9525">
            <a:solidFill>
              <a:schemeClr val="bg2"/>
            </a:solidFill>
            <a:prstDash val="solid"/>
          </a:ln>
        </p:spPr>
      </p:sp>
      <p:sp>
        <p:nvSpPr>
          <p:cNvPr id="14" name="Cost-controlled badge"/>
          <p:cNvSpPr/>
          <p:nvPr/>
        </p:nvSpPr>
        <p:spPr>
          <a:xfrm>
            <a:off x="822960" y="3977640"/>
            <a:ext cx="640080" cy="640080"/>
          </a:xfrm>
          <a:prstGeom prst="ellipse">
            <a:avLst/>
          </a:prstGeom>
          <a:solidFill>
            <a:srgbClr val="2E7D5B"/>
          </a:solidFill>
          <a:ln w="12700">
            <a:solidFill>
              <a:srgbClr val="2E7D5B"/>
            </a:solidFill>
            <a:prstDash val="solid"/>
          </a:ln>
        </p:spPr>
      </p:sp>
      <p:pic>
        <p:nvPicPr>
          <p:cNvPr id="15" name="Cost-controlled" descr="Cost-controlled">    </p:cNvPr>
          <p:cNvPicPr>
            <a:picLocks noChangeAspect="1"/>
          </p:cNvPicPr>
          <p:nvPr/>
        </p:nvPicPr>
        <p:blipFill>
          <a:blip r:embed="rId3"/>
          <a:stretch>
            <a:fillRect/>
          </a:stretch>
        </p:blipFill>
        <p:spPr>
          <a:xfrm>
            <a:off x="976579" y="4131259"/>
            <a:ext cx="332842" cy="332842"/>
          </a:xfrm>
          <a:prstGeom prst="rect">
            <a:avLst/>
          </a:prstGeom>
        </p:spPr>
      </p:pic>
      <p:sp>
        <p:nvSpPr>
          <p:cNvPr id="16" name="Text 11"/>
          <p:cNvSpPr txBox="1"/>
          <p:nvPr/>
        </p:nvSpPr>
        <p:spPr>
          <a:xfrm>
            <a:off x="1645920" y="3977640"/>
            <a:ext cx="4114800" cy="365760"/>
          </a:xfrm>
          <a:prstGeom prst="rect">
            <a:avLst/>
          </a:prstGeom>
          <a:noFill/>
          <a:ln/>
        </p:spPr>
        <p:txBody>
          <a:bodyPr wrap="square" lIns="0" tIns="0" rIns="0" bIns="0" rtlCol="0" anchor="t"/>
          <a:lstStyle/>
          <a:p>
            <a:pPr indent="0" marL="0">
              <a:buNone/>
            </a:pPr>
            <a:r>
              <a:rPr lang="en-US" sz="1800" b="1" dirty="0">
                <a:solidFill>
                  <a:schemeClr val="tx1"/>
                </a:solidFill>
                <a:latin typeface="Georgia" pitchFamily="34" charset="0"/>
                <a:ea typeface="Georgia" pitchFamily="34" charset="-122"/>
                <a:cs typeface="Georgia" pitchFamily="34" charset="-120"/>
              </a:rPr>
              <a:t>Cost-controlled</a:t>
            </a:r>
            <a:endParaRPr lang="en-US" sz="1800" dirty="0"/>
          </a:p>
        </p:txBody>
      </p:sp>
      <p:sp>
        <p:nvSpPr>
          <p:cNvPr id="17" name="Text 12"/>
          <p:cNvSpPr txBox="1"/>
          <p:nvPr/>
        </p:nvSpPr>
        <p:spPr>
          <a:xfrm>
            <a:off x="1645920" y="4434840"/>
            <a:ext cx="4114800" cy="123444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Per-account daily limits (30 chats, 200 runs, 40 route previews), a daily route cap, photos analysed once and never stored, records that expire on their own.</a:t>
            </a:r>
            <a:endParaRPr lang="en-US" sz="1500" dirty="0"/>
          </a:p>
        </p:txBody>
      </p:sp>
      <p:sp>
        <p:nvSpPr>
          <p:cNvPr id="18" name="scale card 4"/>
          <p:cNvSpPr/>
          <p:nvPr/>
        </p:nvSpPr>
        <p:spPr>
          <a:xfrm>
            <a:off x="6217920" y="3703320"/>
            <a:ext cx="5440680" cy="2057400"/>
          </a:xfrm>
          <a:prstGeom prst="roundRect">
            <a:avLst>
              <a:gd name="adj" fmla="val 3556"/>
            </a:avLst>
          </a:prstGeom>
          <a:solidFill>
            <a:schemeClr val="bg2"/>
          </a:solidFill>
          <a:ln w="9525">
            <a:solidFill>
              <a:schemeClr val="bg2"/>
            </a:solidFill>
            <a:prstDash val="solid"/>
          </a:ln>
        </p:spPr>
      </p:sp>
      <p:sp>
        <p:nvSpPr>
          <p:cNvPr id="19" name="Secure by default badge"/>
          <p:cNvSpPr/>
          <p:nvPr/>
        </p:nvSpPr>
        <p:spPr>
          <a:xfrm>
            <a:off x="6492240" y="3977640"/>
            <a:ext cx="640080" cy="640080"/>
          </a:xfrm>
          <a:prstGeom prst="ellipse">
            <a:avLst/>
          </a:prstGeom>
          <a:solidFill>
            <a:srgbClr val="6B3F24"/>
          </a:solidFill>
          <a:ln w="12700">
            <a:solidFill>
              <a:srgbClr val="6B3F24"/>
            </a:solidFill>
            <a:prstDash val="solid"/>
          </a:ln>
        </p:spPr>
      </p:sp>
      <p:pic>
        <p:nvPicPr>
          <p:cNvPr id="20" name="Secure by default" descr="Secure by default">    </p:cNvPr>
          <p:cNvPicPr>
            <a:picLocks noChangeAspect="1"/>
          </p:cNvPicPr>
          <p:nvPr/>
        </p:nvPicPr>
        <p:blipFill>
          <a:blip r:embed="rId4"/>
          <a:stretch>
            <a:fillRect/>
          </a:stretch>
        </p:blipFill>
        <p:spPr>
          <a:xfrm>
            <a:off x="6645859" y="4131259"/>
            <a:ext cx="332842" cy="332842"/>
          </a:xfrm>
          <a:prstGeom prst="rect">
            <a:avLst/>
          </a:prstGeom>
        </p:spPr>
      </p:pic>
      <p:sp>
        <p:nvSpPr>
          <p:cNvPr id="21" name="Text 15"/>
          <p:cNvSpPr txBox="1"/>
          <p:nvPr/>
        </p:nvSpPr>
        <p:spPr>
          <a:xfrm>
            <a:off x="7315200" y="3977640"/>
            <a:ext cx="4114800" cy="365760"/>
          </a:xfrm>
          <a:prstGeom prst="rect">
            <a:avLst/>
          </a:prstGeom>
          <a:noFill/>
          <a:ln/>
        </p:spPr>
        <p:txBody>
          <a:bodyPr wrap="square" lIns="0" tIns="0" rIns="0" bIns="0" rtlCol="0" anchor="t"/>
          <a:lstStyle/>
          <a:p>
            <a:pPr indent="0" marL="0">
              <a:buNone/>
            </a:pPr>
            <a:r>
              <a:rPr lang="en-US" sz="1800" b="1" dirty="0">
                <a:solidFill>
                  <a:schemeClr val="tx1"/>
                </a:solidFill>
                <a:latin typeface="Georgia" pitchFamily="34" charset="0"/>
                <a:ea typeface="Georgia" pitchFamily="34" charset="-122"/>
                <a:cs typeface="Georgia" pitchFamily="34" charset="-120"/>
              </a:rPr>
              <a:t>Secure by default</a:t>
            </a:r>
            <a:endParaRPr lang="en-US" sz="1800" dirty="0"/>
          </a:p>
        </p:txBody>
      </p:sp>
      <p:sp>
        <p:nvSpPr>
          <p:cNvPr id="22" name="Text 16"/>
          <p:cNvSpPr txBox="1"/>
          <p:nvPr/>
        </p:nvSpPr>
        <p:spPr>
          <a:xfrm>
            <a:off x="7315200" y="4434840"/>
            <a:ext cx="4114800" cy="123444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Google sign-in, per-caller rate limits, security headers, dependency audits in CI, no keys in the repository or the images.</a:t>
            </a:r>
            <a:endParaRPr lang="en-US" sz="1500" dirty="0"/>
          </a:p>
        </p:txBody>
      </p:sp>
      <p:sp>
        <p:nvSpPr>
          <p:cNvPr id="23" name="Text 17"/>
          <p:cNvSpPr txBox="1"/>
          <p:nvPr/>
        </p:nvSpPr>
        <p:spPr>
          <a:xfrm>
            <a:off x="548640" y="5989320"/>
            <a:ext cx="11109960" cy="365760"/>
          </a:xfrm>
          <a:prstGeom prst="rect">
            <a:avLst/>
          </a:prstGeom>
          <a:noFill/>
          <a:ln/>
        </p:spPr>
        <p:txBody>
          <a:bodyPr wrap="square" lIns="0" tIns="0" rIns="0" bIns="0" rtlCol="0" anchor="t"/>
          <a:lstStyle/>
          <a:p>
            <a:pPr indent="0" marL="0">
              <a:buNone/>
            </a:pPr>
            <a:r>
              <a:rPr lang="en-US" sz="1300" i="1" dirty="0">
                <a:solidFill>
                  <a:schemeClr val="tx2"/>
                </a:solidFill>
                <a:latin typeface="Arial" pitchFamily="34" charset="0"/>
                <a:ea typeface="Arial" pitchFamily="34" charset="-122"/>
                <a:cs typeface="Arial" pitchFamily="34" charset="-120"/>
              </a:rPr>
              <a:t>Portable: replace the susceptibility, vulnerability and exposure layers and the same app covers another country or another rainfall-triggered hazard.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6"/>
          <p:cNvSpPr/>
          <p:nvPr>
            <p:ph idx="106" type="title" hasCustomPrompt="1"/>
          </p:nvPr>
        </p:nvSpPr>
        <p:spPr>
          <a:xfrm>
            <a:off x="548640" y="365760"/>
            <a:ext cx="9509760" cy="868680"/>
          </a:xfrm>
          <a:prstGeom prst="rect">
            <a:avLst/>
          </a:prstGeom>
          <a:noFill/>
          <a:ln/>
        </p:spPr>
        <p:txBody>
          <a:bodyPr wrap="square" lIns="0" tIns="0" rIns="0" bIns="0" rtlCol="0" anchor="t"/>
          <a:lstStyle/>
          <a:p>
            <a:pPr algn="l" indent="0" marL="0">
              <a:buNone/>
            </a:pPr>
            <a:r>
              <a:rPr lang="en-US" sz="3000" b="1" dirty="0">
                <a:solidFill>
                  <a:schemeClr val="tx1"/>
                </a:solidFill>
                <a:latin typeface="Georgia" pitchFamily="34" charset="0"/>
                <a:ea typeface="Georgia" pitchFamily="34" charset="-122"/>
                <a:cs typeface="Georgia" pitchFamily="34" charset="-120"/>
              </a:rPr>
              <a:t>Honest about limits, clear about what comes next</a:t>
            </a:r>
            <a:endParaRPr lang="en-US" sz="3000" dirty="0"/>
          </a:p>
        </p:txBody>
      </p:sp>
      <p:sp>
        <p:nvSpPr>
          <p:cNvPr id="3" name="limits card"/>
          <p:cNvSpPr/>
          <p:nvPr/>
        </p:nvSpPr>
        <p:spPr>
          <a:xfrm>
            <a:off x="548640" y="1463040"/>
            <a:ext cx="5486400" cy="3931920"/>
          </a:xfrm>
          <a:prstGeom prst="roundRect">
            <a:avLst>
              <a:gd name="adj" fmla="val 1860"/>
            </a:avLst>
          </a:prstGeom>
          <a:solidFill>
            <a:schemeClr val="bg2"/>
          </a:solidFill>
          <a:ln w="9525">
            <a:solidFill>
              <a:schemeClr val="bg2"/>
            </a:solidFill>
            <a:prstDash val="solid"/>
          </a:ln>
        </p:spPr>
      </p:sp>
      <p:sp>
        <p:nvSpPr>
          <p:cNvPr id="4" name="Text 2"/>
          <p:cNvSpPr txBox="1"/>
          <p:nvPr/>
        </p:nvSpPr>
        <p:spPr>
          <a:xfrm>
            <a:off x="822960" y="1691640"/>
            <a:ext cx="4937760" cy="411480"/>
          </a:xfrm>
          <a:prstGeom prst="rect">
            <a:avLst/>
          </a:prstGeom>
          <a:noFill/>
          <a:ln/>
        </p:spPr>
        <p:txBody>
          <a:bodyPr wrap="square" lIns="0" tIns="0" rIns="0" bIns="0" rtlCol="0" anchor="t"/>
          <a:lstStyle/>
          <a:p>
            <a:pPr indent="0" marL="0">
              <a:buNone/>
            </a:pPr>
            <a:r>
              <a:rPr lang="en-US" sz="2000" b="1" dirty="0">
                <a:solidFill>
                  <a:schemeClr val="tx2"/>
                </a:solidFill>
                <a:latin typeface="Georgia" pitchFamily="34" charset="0"/>
                <a:ea typeface="Georgia" pitchFamily="34" charset="-122"/>
                <a:cs typeface="Georgia" pitchFamily="34" charset="-120"/>
              </a:rPr>
              <a:t>What DNext is not</a:t>
            </a:r>
            <a:endParaRPr lang="en-US" sz="2000" dirty="0"/>
          </a:p>
        </p:txBody>
      </p:sp>
      <p:sp>
        <p:nvSpPr>
          <p:cNvPr id="5" name="Text 3"/>
          <p:cNvSpPr txBox="1"/>
          <p:nvPr/>
        </p:nvSpPr>
        <p:spPr>
          <a:xfrm>
            <a:off x="822960" y="2240280"/>
            <a:ext cx="4937760" cy="3749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Arial" pitchFamily="34" charset="0"/>
                <a:ea typeface="Arial" pitchFamily="34" charset="-122"/>
                <a:cs typeface="Arial" pitchFamily="34" charset="-120"/>
              </a:rPr>
              <a:t>A screening tool for planning, not a warning or an evacuation order.</a:t>
            </a:r>
            <a:endParaRPr lang="en-US" sz="1600" dirty="0"/>
          </a:p>
          <a:p>
            <a:pPr marL="342900" indent="-342900">
              <a:spcAft>
                <a:spcPts val="800"/>
              </a:spcAft>
              <a:buSzPct val="100000"/>
              <a:buChar char="•"/>
            </a:pPr>
            <a:r>
              <a:rPr lang="en-US" sz="1600" dirty="0">
                <a:solidFill>
                  <a:schemeClr val="tx1"/>
                </a:solidFill>
                <a:latin typeface="Arial" pitchFamily="34" charset="0"/>
                <a:ea typeface="Arial" pitchFamily="34" charset="-122"/>
                <a:cs typeface="Arial" pitchFamily="34" charset="-120"/>
              </a:rPr>
              <a:t>Not calibrated for single slopes or villages; classes are relative, not probabilities.</a:t>
            </a:r>
            <a:endParaRPr lang="en-US" sz="1600" dirty="0"/>
          </a:p>
          <a:p>
            <a:pPr marL="342900" indent="-342900">
              <a:spcAft>
                <a:spcPts val="800"/>
              </a:spcAft>
              <a:buSzPct val="100000"/>
              <a:buChar char="•"/>
            </a:pPr>
            <a:r>
              <a:rPr lang="en-US" sz="1600" dirty="0">
                <a:solidFill>
                  <a:schemeClr val="tx1"/>
                </a:solidFill>
                <a:latin typeface="Arial" pitchFamily="34" charset="0"/>
                <a:ea typeface="Arial" pitchFamily="34" charset="-122"/>
                <a:cs typeface="Arial" pitchFamily="34" charset="-120"/>
              </a:rPr>
              <a:t>What-if rain is assumed uniform across the area.</a:t>
            </a:r>
            <a:endParaRPr lang="en-US" sz="1600" dirty="0"/>
          </a:p>
          <a:p>
            <a:pPr marL="342900" indent="-342900">
              <a:spcAft>
                <a:spcPts val="800"/>
              </a:spcAft>
              <a:buSzPct val="100000"/>
              <a:buChar char="•"/>
            </a:pPr>
            <a:r>
              <a:rPr lang="en-US" sz="1600" dirty="0">
                <a:solidFill>
                  <a:schemeClr val="tx1"/>
                </a:solidFill>
                <a:latin typeface="Arial" pitchFamily="34" charset="0"/>
                <a:ea typeface="Arial" pitchFamily="34" charset="-122"/>
                <a:cs typeface="Arial" pitchFamily="34" charset="-120"/>
              </a:rPr>
              <a:t>Buildings and people are rounded estimates; OpenStreetMap can be incomplete.</a:t>
            </a:r>
            <a:endParaRPr lang="en-US" sz="1600" dirty="0"/>
          </a:p>
          <a:p>
            <a:pPr marL="342900" indent="-342900">
              <a:spcAft>
                <a:spcPts val="800"/>
              </a:spcAft>
              <a:buSzPct val="100000"/>
              <a:buChar char="•"/>
            </a:pPr>
            <a:r>
              <a:rPr lang="en-US" sz="1600" dirty="0">
                <a:solidFill>
                  <a:schemeClr val="tx1"/>
                </a:solidFill>
                <a:latin typeface="Arial" pitchFamily="34" charset="0"/>
                <a:ea typeface="Arial" pitchFamily="34" charset="-122"/>
                <a:cs typeface="Arial" pitchFamily="34" charset="-120"/>
              </a:rPr>
              <a:t>Safe places are candidates. Community reports are checked by AI, not verified.</a:t>
            </a:r>
            <a:endParaRPr lang="en-US" sz="1600" dirty="0"/>
          </a:p>
        </p:txBody>
      </p:sp>
      <p:sp>
        <p:nvSpPr>
          <p:cNvPr id="6" name="next card"/>
          <p:cNvSpPr/>
          <p:nvPr/>
        </p:nvSpPr>
        <p:spPr>
          <a:xfrm>
            <a:off x="6263640" y="1463040"/>
            <a:ext cx="5394960" cy="3931920"/>
          </a:xfrm>
          <a:prstGeom prst="roundRect">
            <a:avLst>
              <a:gd name="adj" fmla="val 1860"/>
            </a:avLst>
          </a:prstGeom>
          <a:solidFill>
            <a:schemeClr val="tx1"/>
          </a:solidFill>
          <a:ln w="9525">
            <a:solidFill>
              <a:schemeClr val="tx1"/>
            </a:solidFill>
            <a:prstDash val="solid"/>
          </a:ln>
        </p:spPr>
      </p:sp>
      <p:sp>
        <p:nvSpPr>
          <p:cNvPr id="7" name="Text 5"/>
          <p:cNvSpPr txBox="1"/>
          <p:nvPr/>
        </p:nvSpPr>
        <p:spPr>
          <a:xfrm>
            <a:off x="6537960" y="1691640"/>
            <a:ext cx="4846320" cy="411480"/>
          </a:xfrm>
          <a:prstGeom prst="rect">
            <a:avLst/>
          </a:prstGeom>
          <a:noFill/>
          <a:ln/>
        </p:spPr>
        <p:txBody>
          <a:bodyPr wrap="square" lIns="0" tIns="0" rIns="0" bIns="0" rtlCol="0" anchor="t"/>
          <a:lstStyle/>
          <a:p>
            <a:pPr indent="0" marL="0">
              <a:buNone/>
            </a:pPr>
            <a:r>
              <a:rPr lang="en-US" sz="2000" b="1" dirty="0">
                <a:solidFill>
                  <a:schemeClr val="bg1"/>
                </a:solidFill>
                <a:latin typeface="Georgia" pitchFamily="34" charset="0"/>
                <a:ea typeface="Georgia" pitchFamily="34" charset="-122"/>
                <a:cs typeface="Georgia" pitchFamily="34" charset="-120"/>
              </a:rPr>
              <a:t>Next steps</a:t>
            </a:r>
            <a:endParaRPr lang="en-US" sz="2000" dirty="0"/>
          </a:p>
        </p:txBody>
      </p:sp>
      <p:sp>
        <p:nvSpPr>
          <p:cNvPr id="8" name="Text 6"/>
          <p:cNvSpPr txBox="1"/>
          <p:nvPr/>
        </p:nvSpPr>
        <p:spPr>
          <a:xfrm>
            <a:off x="6537960" y="2240280"/>
            <a:ext cx="4846320" cy="3749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2"/>
                </a:solidFill>
                <a:latin typeface="Arial" pitchFamily="34" charset="0"/>
                <a:ea typeface="Arial" pitchFamily="34" charset="-122"/>
                <a:cs typeface="Arial" pitchFamily="34" charset="-120"/>
              </a:rPr>
              <a:t>Calibrate the thresholds against historical landslide records.</a:t>
            </a:r>
            <a:endParaRPr lang="en-US" sz="1600" dirty="0"/>
          </a:p>
          <a:p>
            <a:pPr marL="342900" indent="-342900">
              <a:spcAft>
                <a:spcPts val="800"/>
              </a:spcAft>
              <a:buSzPct val="100000"/>
              <a:buChar char="•"/>
            </a:pPr>
            <a:r>
              <a:rPr lang="en-US" sz="1600" dirty="0">
                <a:solidFill>
                  <a:schemeClr val="bg2"/>
                </a:solidFill>
                <a:latin typeface="Arial" pitchFamily="34" charset="0"/>
                <a:ea typeface="Arial" pitchFamily="34" charset="-122"/>
                <a:cs typeface="Arial" pitchFamily="34" charset="-120"/>
              </a:rPr>
              <a:t>Pilot with provincial planning teams and collect their feedback.</a:t>
            </a:r>
            <a:endParaRPr lang="en-US" sz="1600" dirty="0"/>
          </a:p>
          <a:p>
            <a:pPr marL="342900" indent="-342900">
              <a:spcAft>
                <a:spcPts val="800"/>
              </a:spcAft>
              <a:buSzPct val="100000"/>
              <a:buChar char="•"/>
            </a:pPr>
            <a:r>
              <a:rPr lang="en-US" sz="1600" dirty="0">
                <a:solidFill>
                  <a:schemeClr val="bg2"/>
                </a:solidFill>
                <a:latin typeface="Arial" pitchFamily="34" charset="0"/>
                <a:ea typeface="Arial" pitchFamily="34" charset="-122"/>
                <a:cs typeface="Arial" pitchFamily="34" charset="-120"/>
              </a:rPr>
              <a:t>Add flood and other rainfall-triggered hazards.</a:t>
            </a:r>
            <a:endParaRPr lang="en-US" sz="1600" dirty="0"/>
          </a:p>
          <a:p>
            <a:pPr marL="342900" indent="-342900">
              <a:spcAft>
                <a:spcPts val="800"/>
              </a:spcAft>
              <a:buSzPct val="100000"/>
              <a:buChar char="•"/>
            </a:pPr>
            <a:r>
              <a:rPr lang="en-US" sz="1600" dirty="0">
                <a:solidFill>
                  <a:schemeClr val="bg2"/>
                </a:solidFill>
                <a:latin typeface="Arial" pitchFamily="34" charset="0"/>
                <a:ea typeface="Arial" pitchFamily="34" charset="-122"/>
                <a:cs typeface="Arial" pitchFamily="34" charset="-120"/>
              </a:rPr>
              <a:t>Extend to other ASEAN countries by swapping the national layers.</a:t>
            </a:r>
            <a:endParaRPr lang="en-US" sz="1600" dirty="0"/>
          </a:p>
          <a:p>
            <a:pPr marL="342900" indent="-342900">
              <a:spcAft>
                <a:spcPts val="800"/>
              </a:spcAft>
              <a:buSzPct val="100000"/>
              <a:buChar char="•"/>
            </a:pPr>
            <a:r>
              <a:rPr lang="en-US" sz="1600" dirty="0">
                <a:solidFill>
                  <a:schemeClr val="bg2"/>
                </a:solidFill>
                <a:latin typeface="Arial" pitchFamily="34" charset="0"/>
                <a:ea typeface="Arial" pitchFamily="34" charset="-122"/>
                <a:cs typeface="Arial" pitchFamily="34" charset="-120"/>
              </a:rPr>
              <a:t>Short summaries for messaging apps, for places with weak connections.</a:t>
            </a:r>
            <a:endParaRPr lang="en-US" sz="1600" dirty="0"/>
          </a:p>
        </p:txBody>
      </p:sp>
      <p:sp>
        <p:nvSpPr>
          <p:cNvPr id="9" name="Text 7"/>
          <p:cNvSpPr txBox="1"/>
          <p:nvPr/>
        </p:nvSpPr>
        <p:spPr>
          <a:xfrm>
            <a:off x="548640" y="5715000"/>
            <a:ext cx="11109960" cy="411480"/>
          </a:xfrm>
          <a:prstGeom prst="rect">
            <a:avLst/>
          </a:prstGeom>
          <a:noFill/>
          <a:ln/>
        </p:spPr>
        <p:txBody>
          <a:bodyPr wrap="square" lIns="0" tIns="0" rIns="0" bIns="0" rtlCol="0" anchor="t"/>
          <a:lstStyle/>
          <a:p>
            <a:pPr indent="0" marL="0">
              <a:buNone/>
            </a:pPr>
            <a:r>
              <a:rPr lang="en-US" sz="1800" i="1" dirty="0">
                <a:solidFill>
                  <a:schemeClr val="tx2"/>
                </a:solidFill>
                <a:latin typeface="Georgia" pitchFamily="34" charset="0"/>
                <a:ea typeface="Georgia" pitchFamily="34" charset="-122"/>
                <a:cs typeface="Georgia" pitchFamily="34" charset="-120"/>
              </a:rPr>
              <a:t>DNext does not replace local knowledge. It helps people decide where to look first.</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5"/>
          <p:cNvSpPr/>
          <p:nvPr>
            <p:ph idx="105" type="title" hasCustomPrompt="1"/>
          </p:nvPr>
        </p:nvSpPr>
        <p:spPr>
          <a:xfrm>
            <a:off x="548640" y="365760"/>
            <a:ext cx="9509760" cy="868680"/>
          </a:xfrm>
          <a:prstGeom prst="rect">
            <a:avLst/>
          </a:prstGeom>
          <a:noFill/>
          <a:ln/>
        </p:spPr>
        <p:txBody>
          <a:bodyPr wrap="square" lIns="0" tIns="0" rIns="0" bIns="0" rtlCol="0" anchor="t"/>
          <a:lstStyle/>
          <a:p>
            <a:pPr algn="l" indent="0" marL="0">
              <a:buNone/>
            </a:pPr>
            <a:r>
              <a:rPr lang="en-US" sz="3000" b="1" dirty="0">
                <a:solidFill>
                  <a:schemeClr val="bg1"/>
                </a:solidFill>
                <a:latin typeface="Georgia" pitchFamily="34" charset="0"/>
                <a:ea typeface="Georgia" pitchFamily="34" charset="-122"/>
                <a:cs typeface="Georgia" pitchFamily="34" charset="-120"/>
              </a:rPr>
              <a:t>Try it live</a:t>
            </a:r>
            <a:endParaRPr lang="en-US" sz="3000" dirty="0"/>
          </a:p>
        </p:txBody>
      </p:sp>
      <p:sp>
        <p:nvSpPr>
          <p:cNvPr id="3" name="url card"/>
          <p:cNvSpPr/>
          <p:nvPr/>
        </p:nvSpPr>
        <p:spPr>
          <a:xfrm>
            <a:off x="548640" y="1463040"/>
            <a:ext cx="11109960" cy="1097280"/>
          </a:xfrm>
          <a:prstGeom prst="roundRect">
            <a:avLst>
              <a:gd name="adj" fmla="val 6667"/>
            </a:avLst>
          </a:prstGeom>
          <a:solidFill>
            <a:schemeClr val="tx2"/>
          </a:solidFill>
          <a:ln w="9525">
            <a:solidFill>
              <a:schemeClr val="tx2"/>
            </a:solidFill>
            <a:prstDash val="solid"/>
          </a:ln>
        </p:spPr>
      </p:sp>
      <p:sp>
        <p:nvSpPr>
          <p:cNvPr id="4" name="Text 2"/>
          <p:cNvSpPr txBox="1"/>
          <p:nvPr/>
        </p:nvSpPr>
        <p:spPr>
          <a:xfrm>
            <a:off x="548640" y="1463040"/>
            <a:ext cx="11109960" cy="1097280"/>
          </a:xfrm>
          <a:prstGeom prst="rect">
            <a:avLst/>
          </a:prstGeom>
          <a:noFill/>
          <a:ln/>
        </p:spPr>
        <p:txBody>
          <a:bodyPr wrap="square" lIns="0" tIns="0" rIns="0" bIns="0" rtlCol="0" anchor="ctr"/>
          <a:lstStyle/>
          <a:p>
            <a:pPr algn="ctr" indent="0" marL="0">
              <a:buNone/>
            </a:pPr>
            <a:r>
              <a:rPr lang="en-US" sz="3000" b="1" dirty="0">
                <a:solidFill>
                  <a:schemeClr val="bg1"/>
                </a:solidFill>
                <a:latin typeface="Georgia" pitchFamily="34" charset="0"/>
                <a:ea typeface="Georgia" pitchFamily="34" charset="-122"/>
                <a:cs typeface="Georgia" pitchFamily="34" charset="-120"/>
              </a:rPr>
              <a:t>https://dnext-web-37ob55mcga-as.a.run.app</a:t>
            </a:r>
            <a:endParaRPr lang="en-US" sz="3000" dirty="0"/>
          </a:p>
        </p:txBody>
      </p:sp>
      <p:sp>
        <p:nvSpPr>
          <p:cNvPr id="5" name="try card 1"/>
          <p:cNvSpPr/>
          <p:nvPr/>
        </p:nvSpPr>
        <p:spPr>
          <a:xfrm>
            <a:off x="548640" y="2788920"/>
            <a:ext cx="3611880" cy="2011680"/>
          </a:xfrm>
          <a:prstGeom prst="roundRect">
            <a:avLst>
              <a:gd name="adj" fmla="val 3636"/>
            </a:avLst>
          </a:prstGeom>
          <a:solidFill>
            <a:srgbClr val="3A2619"/>
          </a:solidFill>
          <a:ln w="9525">
            <a:solidFill>
              <a:srgbClr val="5A4030"/>
            </a:solidFill>
            <a:prstDash val="solid"/>
          </a:ln>
        </p:spPr>
      </p:sp>
      <p:sp>
        <p:nvSpPr>
          <p:cNvPr id="6" name="step badge 1"/>
          <p:cNvSpPr/>
          <p:nvPr/>
        </p:nvSpPr>
        <p:spPr>
          <a:xfrm>
            <a:off x="822960" y="2971800"/>
            <a:ext cx="502920" cy="502920"/>
          </a:xfrm>
          <a:prstGeom prst="ellipse">
            <a:avLst/>
          </a:prstGeom>
          <a:solidFill>
            <a:schemeClr val="accent1"/>
          </a:solidFill>
          <a:ln w="12700">
            <a:solidFill>
              <a:schemeClr val="accent1"/>
            </a:solidFill>
            <a:prstDash val="solid"/>
          </a:ln>
        </p:spPr>
      </p:sp>
      <p:sp>
        <p:nvSpPr>
          <p:cNvPr id="7" name="Text 5"/>
          <p:cNvSpPr txBox="1"/>
          <p:nvPr/>
        </p:nvSpPr>
        <p:spPr>
          <a:xfrm>
            <a:off x="822960" y="2971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Georgia" pitchFamily="34" charset="0"/>
                <a:ea typeface="Georgia" pitchFamily="34" charset="-122"/>
                <a:cs typeface="Georgia" pitchFamily="34" charset="-120"/>
              </a:rPr>
              <a:t>1</a:t>
            </a:r>
            <a:endParaRPr lang="en-US" sz="1800" dirty="0"/>
          </a:p>
        </p:txBody>
      </p:sp>
      <p:sp>
        <p:nvSpPr>
          <p:cNvPr id="8" name="Text 6"/>
          <p:cNvSpPr txBox="1"/>
          <p:nvPr/>
        </p:nvSpPr>
        <p:spPr>
          <a:xfrm>
            <a:off x="1463040" y="2971800"/>
            <a:ext cx="2560320" cy="502920"/>
          </a:xfrm>
          <a:prstGeom prst="rect">
            <a:avLst/>
          </a:prstGeom>
          <a:noFill/>
          <a:ln/>
        </p:spPr>
        <p:txBody>
          <a:bodyPr wrap="square" lIns="0" tIns="0" rIns="0" bIns="0" rtlCol="0" anchor="ctr"/>
          <a:lstStyle/>
          <a:p>
            <a:pPr indent="0" marL="0">
              <a:buNone/>
            </a:pPr>
            <a:r>
              <a:rPr lang="en-US" sz="1700" b="1" dirty="0">
                <a:solidFill>
                  <a:schemeClr val="bg1"/>
                </a:solidFill>
                <a:latin typeface="Georgia" pitchFamily="34" charset="0"/>
                <a:ea typeface="Georgia" pitchFamily="34" charset="-122"/>
                <a:cs typeface="Georgia" pitchFamily="34" charset="-120"/>
              </a:rPr>
              <a:t>Open the page</a:t>
            </a:r>
            <a:endParaRPr lang="en-US" sz="1700" dirty="0"/>
          </a:p>
        </p:txBody>
      </p:sp>
      <p:sp>
        <p:nvSpPr>
          <p:cNvPr id="9" name="Text 7"/>
          <p:cNvSpPr txBox="1"/>
          <p:nvPr/>
        </p:nvSpPr>
        <p:spPr>
          <a:xfrm>
            <a:off x="822960" y="3611880"/>
            <a:ext cx="3108960" cy="114300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The national map and the 5-day forecast show without signing in. Press play.</a:t>
            </a:r>
            <a:endParaRPr lang="en-US" sz="1300" dirty="0"/>
          </a:p>
        </p:txBody>
      </p:sp>
      <p:sp>
        <p:nvSpPr>
          <p:cNvPr id="10" name="try card 2"/>
          <p:cNvSpPr/>
          <p:nvPr/>
        </p:nvSpPr>
        <p:spPr>
          <a:xfrm>
            <a:off x="4343400" y="2788920"/>
            <a:ext cx="3611880" cy="2011680"/>
          </a:xfrm>
          <a:prstGeom prst="roundRect">
            <a:avLst>
              <a:gd name="adj" fmla="val 3636"/>
            </a:avLst>
          </a:prstGeom>
          <a:solidFill>
            <a:srgbClr val="3A2619"/>
          </a:solidFill>
          <a:ln w="9525">
            <a:solidFill>
              <a:srgbClr val="5A4030"/>
            </a:solidFill>
            <a:prstDash val="solid"/>
          </a:ln>
        </p:spPr>
      </p:sp>
      <p:sp>
        <p:nvSpPr>
          <p:cNvPr id="11" name="step badge 2"/>
          <p:cNvSpPr/>
          <p:nvPr/>
        </p:nvSpPr>
        <p:spPr>
          <a:xfrm>
            <a:off x="4617720" y="2971800"/>
            <a:ext cx="502920" cy="502920"/>
          </a:xfrm>
          <a:prstGeom prst="ellipse">
            <a:avLst/>
          </a:prstGeom>
          <a:solidFill>
            <a:schemeClr val="accent1"/>
          </a:solidFill>
          <a:ln w="12700">
            <a:solidFill>
              <a:schemeClr val="accent1"/>
            </a:solidFill>
            <a:prstDash val="solid"/>
          </a:ln>
        </p:spPr>
      </p:sp>
      <p:sp>
        <p:nvSpPr>
          <p:cNvPr id="12" name="Text 10"/>
          <p:cNvSpPr txBox="1"/>
          <p:nvPr/>
        </p:nvSpPr>
        <p:spPr>
          <a:xfrm>
            <a:off x="4617720" y="2971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Georgia" pitchFamily="34" charset="0"/>
                <a:ea typeface="Georgia" pitchFamily="34" charset="-122"/>
                <a:cs typeface="Georgia" pitchFamily="34" charset="-120"/>
              </a:rPr>
              <a:t>2</a:t>
            </a:r>
            <a:endParaRPr lang="en-US" sz="1800" dirty="0"/>
          </a:p>
        </p:txBody>
      </p:sp>
      <p:sp>
        <p:nvSpPr>
          <p:cNvPr id="13" name="Text 11"/>
          <p:cNvSpPr txBox="1"/>
          <p:nvPr/>
        </p:nvSpPr>
        <p:spPr>
          <a:xfrm>
            <a:off x="5257800" y="2971800"/>
            <a:ext cx="2560320" cy="502920"/>
          </a:xfrm>
          <a:prstGeom prst="rect">
            <a:avLst/>
          </a:prstGeom>
          <a:noFill/>
          <a:ln/>
        </p:spPr>
        <p:txBody>
          <a:bodyPr wrap="square" lIns="0" tIns="0" rIns="0" bIns="0" rtlCol="0" anchor="ctr"/>
          <a:lstStyle/>
          <a:p>
            <a:pPr indent="0" marL="0">
              <a:buNone/>
            </a:pPr>
            <a:r>
              <a:rPr lang="en-US" sz="1700" b="1" dirty="0">
                <a:solidFill>
                  <a:schemeClr val="bg1"/>
                </a:solidFill>
                <a:latin typeface="Georgia" pitchFamily="34" charset="0"/>
                <a:ea typeface="Georgia" pitchFamily="34" charset="-122"/>
                <a:cs typeface="Georgia" pitchFamily="34" charset="-120"/>
              </a:rPr>
              <a:t>Sign in with Google</a:t>
            </a:r>
            <a:endParaRPr lang="en-US" sz="1700" dirty="0"/>
          </a:p>
        </p:txBody>
      </p:sp>
      <p:sp>
        <p:nvSpPr>
          <p:cNvPr id="14" name="Text 12"/>
          <p:cNvSpPr txBox="1"/>
          <p:nvPr/>
        </p:nvSpPr>
        <p:spPr>
          <a:xfrm>
            <a:off x="4617720" y="3611880"/>
            <a:ext cx="3108960" cy="114300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Needed for chat, scenarios, routes and reports (per-account daily limits apply).</a:t>
            </a:r>
            <a:endParaRPr lang="en-US" sz="1300" dirty="0"/>
          </a:p>
        </p:txBody>
      </p:sp>
      <p:sp>
        <p:nvSpPr>
          <p:cNvPr id="15" name="try card 3"/>
          <p:cNvSpPr/>
          <p:nvPr/>
        </p:nvSpPr>
        <p:spPr>
          <a:xfrm>
            <a:off x="8138160" y="2788920"/>
            <a:ext cx="3611880" cy="2011680"/>
          </a:xfrm>
          <a:prstGeom prst="roundRect">
            <a:avLst>
              <a:gd name="adj" fmla="val 3636"/>
            </a:avLst>
          </a:prstGeom>
          <a:solidFill>
            <a:srgbClr val="3A2619"/>
          </a:solidFill>
          <a:ln w="9525">
            <a:solidFill>
              <a:srgbClr val="5A4030"/>
            </a:solidFill>
            <a:prstDash val="solid"/>
          </a:ln>
        </p:spPr>
      </p:sp>
      <p:sp>
        <p:nvSpPr>
          <p:cNvPr id="16" name="step badge 3"/>
          <p:cNvSpPr/>
          <p:nvPr/>
        </p:nvSpPr>
        <p:spPr>
          <a:xfrm>
            <a:off x="8412480" y="2971800"/>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8412480" y="2971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Georgia" pitchFamily="34" charset="0"/>
                <a:ea typeface="Georgia" pitchFamily="34" charset="-122"/>
                <a:cs typeface="Georgia" pitchFamily="34" charset="-120"/>
              </a:rPr>
              <a:t>3</a:t>
            </a:r>
            <a:endParaRPr lang="en-US" sz="1800" dirty="0"/>
          </a:p>
        </p:txBody>
      </p:sp>
      <p:sp>
        <p:nvSpPr>
          <p:cNvPr id="18" name="Text 16"/>
          <p:cNvSpPr txBox="1"/>
          <p:nvPr/>
        </p:nvSpPr>
        <p:spPr>
          <a:xfrm>
            <a:off x="9052560" y="2971800"/>
            <a:ext cx="2560320" cy="502920"/>
          </a:xfrm>
          <a:prstGeom prst="rect">
            <a:avLst/>
          </a:prstGeom>
          <a:noFill/>
          <a:ln/>
        </p:spPr>
        <p:txBody>
          <a:bodyPr wrap="square" lIns="0" tIns="0" rIns="0" bIns="0" rtlCol="0" anchor="ctr"/>
          <a:lstStyle/>
          <a:p>
            <a:pPr indent="0" marL="0">
              <a:buNone/>
            </a:pPr>
            <a:r>
              <a:rPr lang="en-US" sz="1700" b="1" dirty="0">
                <a:solidFill>
                  <a:schemeClr val="bg1"/>
                </a:solidFill>
                <a:latin typeface="Georgia" pitchFamily="34" charset="0"/>
                <a:ea typeface="Georgia" pitchFamily="34" charset="-122"/>
                <a:cs typeface="Georgia" pitchFamily="34" charset="-120"/>
              </a:rPr>
              <a:t>Try a question</a:t>
            </a:r>
            <a:endParaRPr lang="en-US" sz="1700" dirty="0"/>
          </a:p>
        </p:txBody>
      </p:sp>
      <p:sp>
        <p:nvSpPr>
          <p:cNvPr id="19" name="Text 17"/>
          <p:cNvSpPr txBox="1"/>
          <p:nvPr/>
        </p:nvSpPr>
        <p:spPr>
          <a:xfrm>
            <a:off x="8412480" y="3611880"/>
            <a:ext cx="3108960" cy="114300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"What if 250 mm falls on Nan in 3 days?" · "Which provinces have the highest risk this week?" · "How many schools are at risk in Chon Buri?"</a:t>
            </a:r>
            <a:endParaRPr lang="en-US" sz="1300" dirty="0"/>
          </a:p>
        </p:txBody>
      </p:sp>
      <p:sp>
        <p:nvSpPr>
          <p:cNvPr id="20" name="team strip"/>
          <p:cNvSpPr/>
          <p:nvPr/>
        </p:nvSpPr>
        <p:spPr>
          <a:xfrm>
            <a:off x="548640" y="4983480"/>
            <a:ext cx="11109960" cy="960120"/>
          </a:xfrm>
          <a:prstGeom prst="roundRect">
            <a:avLst>
              <a:gd name="adj" fmla="val 7619"/>
            </a:avLst>
          </a:prstGeom>
          <a:solidFill>
            <a:schemeClr val="tx2"/>
          </a:solidFill>
          <a:ln w="9525">
            <a:solidFill>
              <a:schemeClr val="tx2"/>
            </a:solidFill>
            <a:prstDash val="solid"/>
          </a:ln>
        </p:spPr>
      </p:sp>
      <p:sp>
        <p:nvSpPr>
          <p:cNvPr id="21" name="Text 19"/>
          <p:cNvSpPr txBox="1"/>
          <p:nvPr/>
        </p:nvSpPr>
        <p:spPr>
          <a:xfrm>
            <a:off x="777240" y="5102352"/>
            <a:ext cx="2743200" cy="731520"/>
          </a:xfrm>
          <a:prstGeom prst="rect">
            <a:avLst/>
          </a:prstGeom>
          <a:noFill/>
          <a:ln/>
        </p:spPr>
        <p:txBody>
          <a:bodyPr wrap="square" lIns="0" tIns="0" rIns="0" bIns="0" rtlCol="0" anchor="ctr"/>
          <a:lstStyle/>
          <a:p>
            <a:pPr indent="0" marL="0">
              <a:buNone/>
            </a:pPr>
            <a:r>
              <a:rPr lang="en-US" sz="1700" b="1" dirty="0">
                <a:solidFill>
                  <a:schemeClr val="bg1"/>
                </a:solidFill>
                <a:latin typeface="Georgia" pitchFamily="34" charset="0"/>
                <a:ea typeface="Georgia" pitchFamily="34" charset="-122"/>
                <a:cs typeface="Georgia" pitchFamily="34" charset="-120"/>
              </a:rPr>
              <a:t>DNext (Disaster Next) Team</a:t>
            </a:r>
            <a:endParaRPr lang="en-US" sz="1700" dirty="0"/>
          </a:p>
        </p:txBody>
      </p:sp>
      <p:sp>
        <p:nvSpPr>
          <p:cNvPr id="22" name="Text 20"/>
          <p:cNvSpPr txBox="1"/>
          <p:nvPr/>
        </p:nvSpPr>
        <p:spPr>
          <a:xfrm>
            <a:off x="3611880" y="5074920"/>
            <a:ext cx="3657600" cy="822960"/>
          </a:xfrm>
          <a:prstGeom prst="rect">
            <a:avLst/>
          </a:prstGeom>
          <a:noFill/>
          <a:ln/>
        </p:spPr>
        <p:txBody>
          <a:bodyPr wrap="square" lIns="0" tIns="0" rIns="0" bIns="0" rtlCol="0" anchor="t"/>
          <a:lstStyle/>
          <a:p>
            <a:pPr indent="0" marL="0">
              <a:buNone/>
            </a:pPr>
            <a:r>
              <a:rPr lang="en-US" sz="1200" b="1" dirty="0">
                <a:solidFill>
                  <a:schemeClr val="bg1"/>
                </a:solidFill>
                <a:latin typeface="Arial" pitchFamily="34" charset="0"/>
                <a:ea typeface="Arial" pitchFamily="34" charset="-122"/>
                <a:cs typeface="Arial" pitchFamily="34" charset="-120"/>
              </a:rPr>
              <a:t>Kamal Hosen</a:t>
            </a:r>
            <a:endParaRPr lang="en-US" sz="1200" dirty="0"/>
          </a:p>
          <a:p>
            <a:pPr indent="0" marL="0">
              <a:buNone/>
            </a:pPr>
            <a:r>
              <a:rPr lang="en-US" sz="1200" dirty="0">
                <a:solidFill>
                  <a:schemeClr val="bg1"/>
                </a:solidFill>
                <a:latin typeface="Arial" pitchFamily="34" charset="0"/>
                <a:ea typeface="Arial" pitchFamily="34" charset="-122"/>
                <a:cs typeface="Arial" pitchFamily="34" charset="-120"/>
              </a:rPr>
              <a:t>Geospatial Application Developer</a:t>
            </a:r>
            <a:endParaRPr lang="en-US" sz="1200" dirty="0"/>
          </a:p>
          <a:p>
            <a:pPr indent="0" marL="0">
              <a:buNone/>
            </a:pPr>
            <a:r>
              <a:rPr lang="en-US" sz="1200" dirty="0">
                <a:solidFill>
                  <a:schemeClr val="bg1"/>
                </a:solidFill>
                <a:latin typeface="Arial" pitchFamily="34" charset="0"/>
                <a:ea typeface="Arial" pitchFamily="34" charset="-122"/>
                <a:cs typeface="Arial" pitchFamily="34" charset="-120"/>
              </a:rPr>
              <a:t>kamal.hosen@adpc.net</a:t>
            </a:r>
            <a:endParaRPr lang="en-US" sz="1200" dirty="0"/>
          </a:p>
        </p:txBody>
      </p:sp>
      <p:sp>
        <p:nvSpPr>
          <p:cNvPr id="23" name="Text 21"/>
          <p:cNvSpPr txBox="1"/>
          <p:nvPr/>
        </p:nvSpPr>
        <p:spPr>
          <a:xfrm>
            <a:off x="7452360" y="5074920"/>
            <a:ext cx="4023360" cy="822960"/>
          </a:xfrm>
          <a:prstGeom prst="rect">
            <a:avLst/>
          </a:prstGeom>
          <a:noFill/>
          <a:ln/>
        </p:spPr>
        <p:txBody>
          <a:bodyPr wrap="square" lIns="0" tIns="0" rIns="0" bIns="0" rtlCol="0" anchor="t"/>
          <a:lstStyle/>
          <a:p>
            <a:pPr indent="0" marL="0">
              <a:buNone/>
            </a:pPr>
            <a:r>
              <a:rPr lang="en-US" sz="1200" b="1" dirty="0">
                <a:solidFill>
                  <a:schemeClr val="bg1"/>
                </a:solidFill>
                <a:latin typeface="Arial" pitchFamily="34" charset="0"/>
                <a:ea typeface="Arial" pitchFamily="34" charset="-122"/>
                <a:cs typeface="Arial" pitchFamily="34" charset="-120"/>
              </a:rPr>
              <a:t>Hafsah Ilmy</a:t>
            </a:r>
            <a:endParaRPr lang="en-US" sz="1200" dirty="0"/>
          </a:p>
          <a:p>
            <a:pPr indent="0" marL="0">
              <a:buNone/>
            </a:pPr>
            <a:r>
              <a:rPr lang="en-US" sz="1200" dirty="0">
                <a:solidFill>
                  <a:schemeClr val="bg1"/>
                </a:solidFill>
                <a:latin typeface="Arial" pitchFamily="34" charset="0"/>
                <a:ea typeface="Arial" pitchFamily="34" charset="-122"/>
                <a:cs typeface="Arial" pitchFamily="34" charset="-120"/>
              </a:rPr>
              <a:t>Geospatial Data Scientist (Landslide Model Developer)</a:t>
            </a:r>
            <a:endParaRPr lang="en-US" sz="1200" dirty="0"/>
          </a:p>
          <a:p>
            <a:pPr indent="0" marL="0">
              <a:buNone/>
            </a:pPr>
            <a:r>
              <a:rPr lang="en-US" sz="1200" dirty="0">
                <a:solidFill>
                  <a:schemeClr val="bg1"/>
                </a:solidFill>
                <a:latin typeface="Arial" pitchFamily="34" charset="0"/>
                <a:ea typeface="Arial" pitchFamily="34" charset="-122"/>
                <a:cs typeface="Arial" pitchFamily="34" charset="-120"/>
              </a:rPr>
              <a:t>hafsah.ilmy@adpc.net</a:t>
            </a:r>
            <a:endParaRPr lang="en-US" sz="1200" dirty="0"/>
          </a:p>
        </p:txBody>
      </p:sp>
      <p:sp>
        <p:nvSpPr>
          <p:cNvPr id="24" name="Text 22"/>
          <p:cNvSpPr txBox="1"/>
          <p:nvPr/>
        </p:nvSpPr>
        <p:spPr>
          <a:xfrm>
            <a:off x="548640" y="6080760"/>
            <a:ext cx="11109960" cy="548640"/>
          </a:xfrm>
          <a:prstGeom prst="rect">
            <a:avLst/>
          </a:prstGeom>
          <a:noFill/>
          <a:ln/>
        </p:spPr>
        <p:txBody>
          <a:bodyPr wrap="square" lIns="0" tIns="0" rIns="0" bIns="0" rtlCol="0" anchor="t"/>
          <a:lstStyle/>
          <a:p>
            <a:pPr indent="0" marL="0">
              <a:buNone/>
            </a:pPr>
            <a:r>
              <a:rPr lang="en-US" sz="1000" dirty="0">
                <a:solidFill>
                  <a:schemeClr val="bg2"/>
                </a:solidFill>
                <a:latin typeface="Arial" pitchFamily="34" charset="0"/>
                <a:ea typeface="Arial" pitchFamily="34" charset="-122"/>
                <a:cs typeface="Arial" pitchFamily="34" charset="-120"/>
              </a:rPr>
              <a:t>Theme: Sustainability &amp; Social Impact   ·   Category: Sustainability   ·   Google Cloud: Gemini on Vertex AI, Agent Development Kit, Earth Engine, Cloud Run, Firestore, BigQuery, Pub/Sub, Cloud Storage, Firebase Authentication, Google Maps Platform</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DNext">
  <a:themeElements>
    <a:clrScheme name="DNext">
      <a:dk1>
        <a:srgbClr val="2B1B12"/>
      </a:dk1>
      <a:lt1>
        <a:srgbClr val="FFFFFF"/>
      </a:lt1>
      <a:dk2>
        <a:srgbClr val="6B3F24"/>
      </a:dk2>
      <a:lt2>
        <a:srgbClr val="F3F1EE"/>
      </a:lt2>
      <a:accent1>
        <a:srgbClr val="E8772E"/>
      </a:accent1>
      <a:accent2>
        <a:srgbClr val="F2B134"/>
      </a:accent2>
      <a:accent3>
        <a:srgbClr val="C62828"/>
      </a:accent3>
      <a:accent4>
        <a:srgbClr val="2E7D5B"/>
      </a:accent4>
      <a:accent5>
        <a:srgbClr val="3B6EA5"/>
      </a:accent5>
      <a:accent6>
        <a:srgbClr val="8D6E63"/>
      </a:accent6>
      <a:hlink>
        <a:srgbClr val="B4541A"/>
      </a:hlink>
      <a:folHlink>
        <a:srgbClr val="8D6E63"/>
      </a:folHlink>
    </a:clrScheme>
    <a:fontScheme name="DNex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DNext · LandslideWatch TH — proposal</dc:title>
  <dc:subject>PptxGenJS Presentation</dc:subject>
  <dc:creator>DNext team</dc:creator>
  <cp:lastModifiedBy>DNext team</cp:lastModifiedBy>
  <cp:revision>1</cp:revision>
  <dcterms:created xsi:type="dcterms:W3CDTF">2026-10-17T02:48:20Z</dcterms:created>
  <dcterms:modified xsi:type="dcterms:W3CDTF">2026-10-17T02:48:20Z</dcterms:modified>
</cp:coreProperties>
</file>